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9" r:id="rId3"/>
    <p:sldId id="268" r:id="rId4"/>
    <p:sldId id="269" r:id="rId5"/>
    <p:sldId id="260" r:id="rId6"/>
    <p:sldId id="261" r:id="rId7"/>
    <p:sldId id="262" r:id="rId8"/>
    <p:sldId id="276" r:id="rId9"/>
    <p:sldId id="277" r:id="rId10"/>
    <p:sldId id="281" r:id="rId11"/>
    <p:sldId id="263" r:id="rId12"/>
    <p:sldId id="264" r:id="rId13"/>
    <p:sldId id="265" r:id="rId14"/>
    <p:sldId id="266" r:id="rId15"/>
    <p:sldId id="267" r:id="rId16"/>
    <p:sldId id="278" r:id="rId17"/>
    <p:sldId id="279" r:id="rId18"/>
    <p:sldId id="280" r:id="rId19"/>
    <p:sldId id="270" r:id="rId20"/>
    <p:sldId id="271" r:id="rId21"/>
    <p:sldId id="272" r:id="rId22"/>
    <p:sldId id="273" r:id="rId23"/>
    <p:sldId id="274" r:id="rId24"/>
    <p:sldId id="275" r:id="rId25"/>
    <p:sldId id="25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6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5D63EB-5BED-476E-84C3-6A840F53166E}" type="datetimeFigureOut">
              <a:rPr lang="en-IN" smtClean="0"/>
              <a:t>19-05-2026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4F969-3322-48E0-B03E-21E4106B3985}" type="slidenum">
              <a:rPr lang="en-IN" smtClean="0"/>
              <a:t>‹#›</a:t>
            </a:fld>
            <a:endParaRPr lang="en-IN"/>
          </a:p>
        </p:txBody>
      </p:sp>
    </p:spTree>
    <p:extLst>
      <p:ext uri="{BB962C8B-B14F-4D97-AF65-F5344CB8AC3E}">
        <p14:creationId xmlns:p14="http://schemas.microsoft.com/office/powerpoint/2010/main" val="130599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4474A3E-4A2B-4FDD-9C8C-9DE40BA37265}" type="datetime1">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332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9F987AF-FC2D-4B39-9667-FCE764F4B55B}" type="datetime1">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5187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7BC191A-CD8F-4D30-B9CF-94DCA6D3DB23}" type="datetime1">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414270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B09EC50-D3F5-48D3-8B89-AECEF19ABC50}" type="datetime1">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67256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0D19130-9724-4831-B6BA-86028D866AB3}" type="datetime1">
              <a:rPr lang="en-IN" smtClean="0"/>
              <a:t>19-05-2026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368653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88A2F6D-6DEE-4EFF-B2C0-4929C83F59E6}" type="datetime1">
              <a:rPr lang="en-IN" smtClean="0"/>
              <a:t>19-05-2026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26427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FCE2-C4E1-4093-95FC-11181E87703C}" type="datetime1">
              <a:rPr lang="en-IN" smtClean="0"/>
              <a:t>19-05-2026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3202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1AC7631-9593-45D5-8442-FBB38EB9D242}" type="datetime1">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9858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A2C89EC-734D-4EDB-9B8C-7EE5E374D6C8}" type="datetime1">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77797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7FA5AD-D260-4A7C-ACB6-CC4C93AC9F72}" type="datetime1">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6268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233A85-04B7-4079-9A0A-A74C851BFE5D}" type="datetime1">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77038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D93D0D-79BE-49E6-B0AD-95BE23498E36}" type="datetime1">
              <a:rPr lang="en-IN" smtClean="0"/>
              <a:t>19-05-2026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pPr/>
              <a:t>‹#›</a:t>
            </a:fld>
            <a:endParaRPr lang="en-IN"/>
          </a:p>
        </p:txBody>
      </p:sp>
    </p:spTree>
    <p:extLst>
      <p:ext uri="{BB962C8B-B14F-4D97-AF65-F5344CB8AC3E}">
        <p14:creationId xmlns:p14="http://schemas.microsoft.com/office/powerpoint/2010/main" val="185436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71;p15"/>
          <p:cNvSpPr txBox="1">
            <a:spLocks noChangeArrowheads="1"/>
          </p:cNvSpPr>
          <p:nvPr/>
        </p:nvSpPr>
        <p:spPr bwMode="auto">
          <a:xfrm>
            <a:off x="390981" y="1215573"/>
            <a:ext cx="6179635" cy="107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50000"/>
              </a:lnSpc>
            </a:pPr>
            <a:r>
              <a:rPr lang="en-US" b="1" dirty="0"/>
              <a:t>Data Mining Based Water Demand Prediction for Smart Irrigation Management in Dadra and Nagar Haveli</a:t>
            </a:r>
            <a:endParaRPr lang="en-US" altLang="en-US" sz="2400" b="1" dirty="0">
              <a:solidFill>
                <a:srgbClr val="04A2B9"/>
              </a:solidFill>
              <a:latin typeface="Cambria" panose="02040503050406030204" pitchFamily="18" charset="0"/>
              <a:ea typeface="Cambria" panose="02040503050406030204" pitchFamily="18" charset="0"/>
              <a:cs typeface="+mj-cs"/>
              <a:sym typeface="Proxima Nova" charset="0"/>
            </a:endParaRPr>
          </a:p>
          <a:p>
            <a:pPr algn="ctr">
              <a:lnSpc>
                <a:spcPct val="150000"/>
              </a:lnSpc>
            </a:pPr>
            <a:endParaRPr lang="en-US" altLang="en-US" sz="1200" b="1" dirty="0">
              <a:solidFill>
                <a:srgbClr val="04A2B9"/>
              </a:solidFill>
              <a:latin typeface="Cambria" panose="02040503050406030204" pitchFamily="18" charset="0"/>
              <a:ea typeface="Cambria" panose="02040503050406030204" pitchFamily="18" charset="0"/>
              <a:cs typeface="+mj-cs"/>
            </a:endParaRPr>
          </a:p>
        </p:txBody>
      </p:sp>
      <p:sp>
        <p:nvSpPr>
          <p:cNvPr id="5" name="Google Shape;71;p15"/>
          <p:cNvSpPr txBox="1">
            <a:spLocks noChangeArrowheads="1"/>
          </p:cNvSpPr>
          <p:nvPr/>
        </p:nvSpPr>
        <p:spPr bwMode="auto">
          <a:xfrm>
            <a:off x="284485" y="4569135"/>
            <a:ext cx="5918012" cy="161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50000"/>
              </a:lnSpc>
            </a:pPr>
            <a:r>
              <a:rPr lang="en-US" altLang="en-US" sz="1600" dirty="0">
                <a:solidFill>
                  <a:srgbClr val="002060"/>
                </a:solidFill>
                <a:latin typeface="Cambria" panose="02040503050406030204" pitchFamily="18" charset="0"/>
                <a:ea typeface="Cambria" panose="02040503050406030204" pitchFamily="18" charset="0"/>
                <a:cs typeface="Proxima Nova" charset="0"/>
                <a:sym typeface="Proxima Nova" charset="0"/>
              </a:rPr>
              <a:t>Mr. Imtiyaz Padarshi, </a:t>
            </a:r>
          </a:p>
          <a:p>
            <a:pPr algn="ctr">
              <a:lnSpc>
                <a:spcPct val="150000"/>
              </a:lnSpc>
            </a:pPr>
            <a:r>
              <a:rPr lang="en-US" altLang="en-US" sz="1600" dirty="0">
                <a:solidFill>
                  <a:srgbClr val="002060"/>
                </a:solidFill>
                <a:latin typeface="Cambria" panose="02040503050406030204" pitchFamily="18" charset="0"/>
                <a:ea typeface="Cambria" panose="02040503050406030204" pitchFamily="18" charset="0"/>
                <a:cs typeface="Proxima Nova" charset="0"/>
                <a:sym typeface="Proxima Nova" charset="0"/>
              </a:rPr>
              <a:t>Enrolment No : 92500832009</a:t>
            </a:r>
          </a:p>
          <a:p>
            <a:pPr algn="ctr">
              <a:lnSpc>
                <a:spcPct val="150000"/>
              </a:lnSpc>
            </a:pPr>
            <a:r>
              <a:rPr lang="en-US" altLang="en-US" sz="1600" dirty="0">
                <a:solidFill>
                  <a:srgbClr val="002060"/>
                </a:solidFill>
                <a:latin typeface="Cambria" panose="02040503050406030204" pitchFamily="18" charset="0"/>
                <a:ea typeface="Cambria" panose="02040503050406030204" pitchFamily="18" charset="0"/>
                <a:sym typeface="Proxima Nova" charset="0"/>
              </a:rPr>
              <a:t>Supervisor : Dr. Dimple Thakar (Asst. Professor ) </a:t>
            </a:r>
          </a:p>
          <a:p>
            <a:pPr algn="ctr">
              <a:lnSpc>
                <a:spcPct val="150000"/>
              </a:lnSpc>
            </a:pPr>
            <a:r>
              <a:rPr lang="en-US" altLang="en-US" sz="1600" dirty="0">
                <a:solidFill>
                  <a:srgbClr val="002060"/>
                </a:solidFill>
                <a:latin typeface="Cambria" panose="02040503050406030204" pitchFamily="18" charset="0"/>
                <a:ea typeface="Cambria" panose="02040503050406030204" pitchFamily="18" charset="0"/>
                <a:sym typeface="Proxima Nova" charset="0"/>
              </a:rPr>
              <a:t>Marwadi University </a:t>
            </a:r>
          </a:p>
        </p:txBody>
      </p:sp>
      <p:sp>
        <p:nvSpPr>
          <p:cNvPr id="3" name="TextBox 2">
            <a:extLst>
              <a:ext uri="{FF2B5EF4-FFF2-40B4-BE49-F238E27FC236}">
                <a16:creationId xmlns:a16="http://schemas.microsoft.com/office/drawing/2014/main" id="{E2DB4291-1B4C-3A3C-8ECC-3D57A2F301D7}"/>
              </a:ext>
            </a:extLst>
          </p:cNvPr>
          <p:cNvSpPr txBox="1"/>
          <p:nvPr/>
        </p:nvSpPr>
        <p:spPr>
          <a:xfrm>
            <a:off x="19280" y="462421"/>
            <a:ext cx="6312664" cy="456472"/>
          </a:xfrm>
          <a:prstGeom prst="rect">
            <a:avLst/>
          </a:prstGeom>
          <a:noFill/>
        </p:spPr>
        <p:txBody>
          <a:bodyPr wrap="square">
            <a:spAutoFit/>
          </a:bodyPr>
          <a:lstStyle/>
          <a:p>
            <a:pPr algn="ctr">
              <a:lnSpc>
                <a:spcPct val="150000"/>
              </a:lnSpc>
            </a:pPr>
            <a:r>
              <a:rPr lang="en-US" altLang="en-US" sz="1800" dirty="0">
                <a:solidFill>
                  <a:srgbClr val="002060"/>
                </a:solidFill>
                <a:latin typeface="Cambria" panose="02040503050406030204" pitchFamily="18" charset="0"/>
                <a:ea typeface="Cambria" panose="02040503050406030204" pitchFamily="18" charset="0"/>
                <a:sym typeface="Proxima Nova" charset="0"/>
              </a:rPr>
              <a:t>Research Review Progress (RPR) Presentation No.: 1</a:t>
            </a:r>
          </a:p>
        </p:txBody>
      </p:sp>
      <p:sp>
        <p:nvSpPr>
          <p:cNvPr id="7" name="TextBox 6">
            <a:extLst>
              <a:ext uri="{FF2B5EF4-FFF2-40B4-BE49-F238E27FC236}">
                <a16:creationId xmlns:a16="http://schemas.microsoft.com/office/drawing/2014/main" id="{64C18CBE-A6E1-725D-CB20-B0E4E8181982}"/>
              </a:ext>
            </a:extLst>
          </p:cNvPr>
          <p:cNvSpPr txBox="1"/>
          <p:nvPr/>
        </p:nvSpPr>
        <p:spPr>
          <a:xfrm>
            <a:off x="2087697" y="2258706"/>
            <a:ext cx="2175831" cy="338554"/>
          </a:xfrm>
          <a:prstGeom prst="rect">
            <a:avLst/>
          </a:prstGeom>
          <a:noFill/>
        </p:spPr>
        <p:txBody>
          <a:bodyPr wrap="square">
            <a:spAutoFit/>
          </a:bodyPr>
          <a:lstStyle/>
          <a:p>
            <a:pPr algn="ctr"/>
            <a:r>
              <a:rPr lang="en-US" altLang="en-US" sz="1600" dirty="0">
                <a:solidFill>
                  <a:srgbClr val="002060"/>
                </a:solidFill>
                <a:latin typeface="Cambria" panose="02040503050406030204" pitchFamily="18" charset="0"/>
                <a:ea typeface="Cambria" panose="02040503050406030204" pitchFamily="18" charset="0"/>
                <a:sym typeface="Proxima Nova" charset="0"/>
              </a:rPr>
              <a:t>Date of RPR </a:t>
            </a:r>
            <a:endParaRPr lang="en-US" sz="1600" dirty="0">
              <a:latin typeface="Cambria" panose="02040503050406030204" pitchFamily="18" charset="0"/>
              <a:ea typeface="Cambria" panose="02040503050406030204" pitchFamily="18" charset="0"/>
            </a:endParaRPr>
          </a:p>
        </p:txBody>
      </p:sp>
      <p:sp>
        <p:nvSpPr>
          <p:cNvPr id="6" name="Slide Number Placeholder 2"/>
          <p:cNvSpPr>
            <a:spLocks noGrp="1"/>
          </p:cNvSpPr>
          <p:nvPr>
            <p:ph type="sldNum" sz="quarter" idx="12"/>
          </p:nvPr>
        </p:nvSpPr>
        <p:spPr>
          <a:xfrm>
            <a:off x="11503599" y="6444933"/>
            <a:ext cx="346589" cy="365125"/>
          </a:xfrm>
        </p:spPr>
        <p:txBody>
          <a:bodyPr/>
          <a:lstStyle/>
          <a:p>
            <a:r>
              <a:rPr lang="en-IN" dirty="0">
                <a:latin typeface="Cambria" panose="02040503050406030204" pitchFamily="18" charset="0"/>
                <a:ea typeface="Cambria" panose="02040503050406030204" pitchFamily="18" charset="0"/>
              </a:rPr>
              <a:t>1</a:t>
            </a:r>
          </a:p>
        </p:txBody>
      </p:sp>
    </p:spTree>
    <p:extLst>
      <p:ext uri="{BB962C8B-B14F-4D97-AF65-F5344CB8AC3E}">
        <p14:creationId xmlns:p14="http://schemas.microsoft.com/office/powerpoint/2010/main" val="3337428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Table of Contents</a:t>
            </a:r>
            <a:endParaRPr sz="2400" dirty="0">
              <a:latin typeface="Cambria" panose="02040503050406030204" pitchFamily="18" charset="0"/>
              <a:ea typeface="Cambria" panose="02040503050406030204" pitchFamily="18" charset="0"/>
            </a:endParaRPr>
          </a:p>
        </p:txBody>
      </p:sp>
      <p:sp>
        <p:nvSpPr>
          <p:cNvPr id="7" name="Google Shape;71;p15"/>
          <p:cNvSpPr txBox="1">
            <a:spLocks noChangeArrowheads="1"/>
          </p:cNvSpPr>
          <p:nvPr/>
        </p:nvSpPr>
        <p:spPr bwMode="auto">
          <a:xfrm>
            <a:off x="341812" y="1058834"/>
            <a:ext cx="10640196" cy="420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Why This Research?</a:t>
            </a:r>
          </a:p>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Literature Review</a:t>
            </a:r>
          </a:p>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Research Gap</a:t>
            </a:r>
          </a:p>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Problem Statement</a:t>
            </a:r>
          </a:p>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Objectives</a:t>
            </a:r>
          </a:p>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Future Planning for DAC -2</a:t>
            </a:r>
          </a:p>
          <a:p>
            <a:pPr marL="342900" indent="-342900" eaLnBrk="1" hangingPunct="1">
              <a:lnSpc>
                <a:spcPct val="150000"/>
              </a:lnSpc>
              <a:buFont typeface="+mj-lt"/>
              <a:buAutoNum type="arabicPeriod"/>
            </a:pPr>
            <a:r>
              <a:rPr lang="en-US" altLang="en-US" sz="1600" dirty="0">
                <a:solidFill>
                  <a:srgbClr val="002060"/>
                </a:solidFill>
                <a:latin typeface="Cambria" panose="02040503050406030204" pitchFamily="18" charset="0"/>
                <a:ea typeface="Cambria" panose="02040503050406030204" pitchFamily="18" charset="0"/>
                <a:sym typeface="Proxima Nova" charset="0"/>
              </a:rPr>
              <a:t>References	</a:t>
            </a: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marL="342900" indent="-342900" eaLnBrk="1" hangingPunct="1">
              <a:lnSpc>
                <a:spcPct val="150000"/>
              </a:lnSpc>
              <a:buFont typeface="+mj-lt"/>
              <a:buAutoNum type="arabicPeriod"/>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2</a:t>
            </a:fld>
            <a:endParaRPr lang="en-IN" dirty="0">
              <a:latin typeface="Proxima Nova Cn Bl" panose="02000506030000020004" pitchFamily="50" charset="0"/>
            </a:endParaRPr>
          </a:p>
        </p:txBody>
      </p:sp>
    </p:spTree>
    <p:extLst>
      <p:ext uri="{BB962C8B-B14F-4D97-AF65-F5344CB8AC3E}">
        <p14:creationId xmlns:p14="http://schemas.microsoft.com/office/powerpoint/2010/main" val="298297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DA669F6-B4E1-CADA-C4BB-7E804D1BFC7B}"/>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783982C0-4DF5-BB07-2B03-BD2801E0A53E}"/>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Why this research?</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0F675465-8865-C381-0EF8-69F0D1A9AB41}"/>
              </a:ext>
            </a:extLst>
          </p:cNvPr>
          <p:cNvSpPr txBox="1">
            <a:spLocks noChangeArrowheads="1"/>
          </p:cNvSpPr>
          <p:nvPr/>
        </p:nvSpPr>
        <p:spPr bwMode="auto">
          <a:xfrm>
            <a:off x="341812" y="1058834"/>
            <a:ext cx="10640196" cy="198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pPr>
            <a:r>
              <a:rPr lang="en-US" altLang="en-US" sz="1600" dirty="0">
                <a:solidFill>
                  <a:srgbClr val="002060"/>
                </a:solidFill>
                <a:latin typeface="Cambria" panose="02040503050406030204" pitchFamily="18" charset="0"/>
                <a:ea typeface="Cambria" panose="02040503050406030204" pitchFamily="18" charset="0"/>
                <a:sym typeface="Proxima Nova" charset="0"/>
              </a:rPr>
              <a:t>	</a:t>
            </a: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marL="342900" indent="-342900" eaLnBrk="1" hangingPunct="1">
              <a:lnSpc>
                <a:spcPct val="150000"/>
              </a:lnSpc>
              <a:buFont typeface="+mj-lt"/>
              <a:buAutoNum type="arabicPeriod"/>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E3CF1FB6-AA62-102E-B469-2FA60C0CBE1F}"/>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3</a:t>
            </a:fld>
            <a:endParaRPr lang="en-IN" dirty="0">
              <a:latin typeface="Proxima Nova Cn Bl" panose="02000506030000020004" pitchFamily="50" charset="0"/>
            </a:endParaRPr>
          </a:p>
        </p:txBody>
      </p:sp>
      <p:pic>
        <p:nvPicPr>
          <p:cNvPr id="4" name="Picture 3">
            <a:extLst>
              <a:ext uri="{FF2B5EF4-FFF2-40B4-BE49-F238E27FC236}">
                <a16:creationId xmlns:a16="http://schemas.microsoft.com/office/drawing/2014/main" id="{582993BC-AAA1-53D3-2938-2327861872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812" y="1058834"/>
            <a:ext cx="11161787" cy="4532341"/>
          </a:xfrm>
          <a:prstGeom prst="rect">
            <a:avLst/>
          </a:prstGeom>
        </p:spPr>
      </p:pic>
      <p:sp>
        <p:nvSpPr>
          <p:cNvPr id="9" name="TextBox 8">
            <a:extLst>
              <a:ext uri="{FF2B5EF4-FFF2-40B4-BE49-F238E27FC236}">
                <a16:creationId xmlns:a16="http://schemas.microsoft.com/office/drawing/2014/main" id="{92D86D28-3156-3E81-3925-A873180325A0}"/>
              </a:ext>
            </a:extLst>
          </p:cNvPr>
          <p:cNvSpPr txBox="1"/>
          <p:nvPr/>
        </p:nvSpPr>
        <p:spPr>
          <a:xfrm>
            <a:off x="409575" y="5753100"/>
            <a:ext cx="10039350" cy="369332"/>
          </a:xfrm>
          <a:prstGeom prst="rect">
            <a:avLst/>
          </a:prstGeom>
          <a:noFill/>
        </p:spPr>
        <p:txBody>
          <a:bodyPr wrap="square" rtlCol="0">
            <a:spAutoFit/>
          </a:bodyPr>
          <a:lstStyle/>
          <a:p>
            <a:r>
              <a:rPr lang="en-US" dirty="0"/>
              <a:t>Image Source : tv9gujaratinews 1 July 2019</a:t>
            </a:r>
            <a:endParaRPr lang="en-IN" dirty="0"/>
          </a:p>
        </p:txBody>
      </p:sp>
    </p:spTree>
    <p:extLst>
      <p:ext uri="{BB962C8B-B14F-4D97-AF65-F5344CB8AC3E}">
        <p14:creationId xmlns:p14="http://schemas.microsoft.com/office/powerpoint/2010/main" val="3704465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B2D40BD-D744-DC4D-AD51-B43CEBC013C0}"/>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82CFC738-D56A-24A3-86DE-6985E25EE93E}"/>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Why This Research?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2A538AEF-5CAB-AFF6-4D59-6321368EDFE9}"/>
              </a:ext>
            </a:extLst>
          </p:cNvPr>
          <p:cNvSpPr txBox="1">
            <a:spLocks noChangeArrowheads="1"/>
          </p:cNvSpPr>
          <p:nvPr/>
        </p:nvSpPr>
        <p:spPr bwMode="auto">
          <a:xfrm>
            <a:off x="341812" y="1058834"/>
            <a:ext cx="10640196" cy="198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pPr>
            <a:r>
              <a:rPr lang="en-US" altLang="en-US" sz="1600" dirty="0">
                <a:solidFill>
                  <a:srgbClr val="002060"/>
                </a:solidFill>
                <a:latin typeface="Cambria" panose="02040503050406030204" pitchFamily="18" charset="0"/>
                <a:ea typeface="Cambria" panose="02040503050406030204" pitchFamily="18" charset="0"/>
                <a:sym typeface="Proxima Nova" charset="0"/>
              </a:rPr>
              <a:t>Average Rainfall data between 2016 – 2025	</a:t>
            </a: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AABDBFD6-F994-0A5E-FCB8-75E7ABD0A108}"/>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4</a:t>
            </a:fld>
            <a:endParaRPr lang="en-IN" dirty="0">
              <a:latin typeface="Proxima Nova Cn Bl" panose="02000506030000020004" pitchFamily="50" charset="0"/>
            </a:endParaRPr>
          </a:p>
        </p:txBody>
      </p:sp>
      <p:graphicFrame>
        <p:nvGraphicFramePr>
          <p:cNvPr id="2" name="Table 1">
            <a:extLst>
              <a:ext uri="{FF2B5EF4-FFF2-40B4-BE49-F238E27FC236}">
                <a16:creationId xmlns:a16="http://schemas.microsoft.com/office/drawing/2014/main" id="{DD91D9EE-1CD1-DDC1-F271-3A0681316A2E}"/>
              </a:ext>
            </a:extLst>
          </p:cNvPr>
          <p:cNvGraphicFramePr>
            <a:graphicFrameLocks noGrp="1"/>
          </p:cNvGraphicFramePr>
          <p:nvPr>
            <p:extLst>
              <p:ext uri="{D42A27DB-BD31-4B8C-83A1-F6EECF244321}">
                <p14:modId xmlns:p14="http://schemas.microsoft.com/office/powerpoint/2010/main" val="1054800598"/>
              </p:ext>
            </p:extLst>
          </p:nvPr>
        </p:nvGraphicFramePr>
        <p:xfrm>
          <a:off x="1057275" y="1693578"/>
          <a:ext cx="7191375" cy="3811871"/>
        </p:xfrm>
        <a:graphic>
          <a:graphicData uri="http://schemas.openxmlformats.org/drawingml/2006/table">
            <a:tbl>
              <a:tblPr>
                <a:tableStyleId>{5C22544A-7EE6-4342-B048-85BDC9FD1C3A}</a:tableStyleId>
              </a:tblPr>
              <a:tblGrid>
                <a:gridCol w="1152525">
                  <a:extLst>
                    <a:ext uri="{9D8B030D-6E8A-4147-A177-3AD203B41FA5}">
                      <a16:colId xmlns:a16="http://schemas.microsoft.com/office/drawing/2014/main" val="875933013"/>
                    </a:ext>
                  </a:extLst>
                </a:gridCol>
                <a:gridCol w="2107347">
                  <a:extLst>
                    <a:ext uri="{9D8B030D-6E8A-4147-A177-3AD203B41FA5}">
                      <a16:colId xmlns:a16="http://schemas.microsoft.com/office/drawing/2014/main" val="1110029094"/>
                    </a:ext>
                  </a:extLst>
                </a:gridCol>
                <a:gridCol w="3931503">
                  <a:extLst>
                    <a:ext uri="{9D8B030D-6E8A-4147-A177-3AD203B41FA5}">
                      <a16:colId xmlns:a16="http://schemas.microsoft.com/office/drawing/2014/main" val="306502868"/>
                    </a:ext>
                  </a:extLst>
                </a:gridCol>
              </a:tblGrid>
              <a:tr h="461611">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Year </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Annual Rainfall (mm)</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Note/Data Source</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1788986013"/>
                  </a:ext>
                </a:extLst>
              </a:tr>
              <a:tr h="391196">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2025</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~3,480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US" sz="1600" u="none" strike="noStrike" dirty="0">
                          <a:effectLst/>
                          <a:latin typeface="Cambria" panose="02040503050406030204" pitchFamily="18" charset="0"/>
                          <a:ea typeface="Cambria" panose="02040503050406030204" pitchFamily="18" charset="0"/>
                        </a:rPr>
                        <a:t>Reported as of Oct 29, 2025</a:t>
                      </a:r>
                      <a:endParaRPr lang="en-US"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1052991236"/>
                  </a:ext>
                </a:extLst>
              </a:tr>
              <a:tr h="371651">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2024</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~3,359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US" sz="1600" u="none" strike="noStrike" dirty="0">
                          <a:effectLst/>
                          <a:latin typeface="Cambria" panose="02040503050406030204" pitchFamily="18" charset="0"/>
                          <a:ea typeface="Cambria" panose="02040503050406030204" pitchFamily="18" charset="0"/>
                        </a:rPr>
                        <a:t>Total as of Oct 22, 2024</a:t>
                      </a:r>
                      <a:endParaRPr lang="en-US"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981007182"/>
                  </a:ext>
                </a:extLst>
              </a:tr>
              <a:tr h="371651">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2023</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~2,500 - 2,800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Estimated (high monsoon year)</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2269221151"/>
                  </a:ext>
                </a:extLst>
              </a:tr>
              <a:tr h="352090">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2022</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~2,600 - 3,000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US" sz="1600" u="none" strike="noStrike" dirty="0">
                          <a:effectLst/>
                          <a:latin typeface="Cambria" panose="02040503050406030204" pitchFamily="18" charset="0"/>
                          <a:ea typeface="Cambria" panose="02040503050406030204" pitchFamily="18" charset="0"/>
                        </a:rPr>
                        <a:t>Estimated based on monsoon activity</a:t>
                      </a:r>
                      <a:endParaRPr lang="en-US"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4094725398"/>
                  </a:ext>
                </a:extLst>
              </a:tr>
              <a:tr h="345119">
                <a:tc>
                  <a:txBody>
                    <a:bodyPr/>
                    <a:lstStyle/>
                    <a:p>
                      <a:pPr algn="ctr" fontAlgn="ctr">
                        <a:buNone/>
                      </a:pPr>
                      <a:r>
                        <a:rPr lang="en-IN" sz="1600" u="none" strike="noStrike">
                          <a:effectLst/>
                          <a:latin typeface="Cambria" panose="02040503050406030204" pitchFamily="18" charset="0"/>
                          <a:ea typeface="Cambria" panose="02040503050406030204" pitchFamily="18" charset="0"/>
                        </a:rPr>
                        <a:t>2021</a:t>
                      </a:r>
                      <a:endParaRPr lang="en-IN" sz="1600" b="1"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~2,800 - 3,100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High rainfall year</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2576572441"/>
                  </a:ext>
                </a:extLst>
              </a:tr>
              <a:tr h="303189">
                <a:tc>
                  <a:txBody>
                    <a:bodyPr/>
                    <a:lstStyle/>
                    <a:p>
                      <a:pPr algn="ctr" fontAlgn="ctr">
                        <a:buNone/>
                      </a:pPr>
                      <a:r>
                        <a:rPr lang="en-IN" sz="1600" u="none" strike="noStrike">
                          <a:effectLst/>
                          <a:latin typeface="Cambria" panose="02040503050406030204" pitchFamily="18" charset="0"/>
                          <a:ea typeface="Cambria" panose="02040503050406030204" pitchFamily="18" charset="0"/>
                        </a:rPr>
                        <a:t>2020</a:t>
                      </a:r>
                      <a:endParaRPr lang="en-IN" sz="1600" b="1"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a:effectLst/>
                          <a:latin typeface="Cambria" panose="02040503050406030204" pitchFamily="18" charset="0"/>
                          <a:ea typeface="Cambria" panose="02040503050406030204" pitchFamily="18" charset="0"/>
                        </a:rPr>
                        <a:t>~3,000 mm+</a:t>
                      </a:r>
                      <a:endParaRPr lang="en-IN"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High rainfall year</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2837628954"/>
                  </a:ext>
                </a:extLst>
              </a:tr>
              <a:tr h="332530">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2019</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~2,500 - 2,900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Estimated</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1656792937"/>
                  </a:ext>
                </a:extLst>
              </a:tr>
              <a:tr h="312969">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2018</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~2,200 - 2,500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Estimated</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3694753288"/>
                  </a:ext>
                </a:extLst>
              </a:tr>
              <a:tr h="312969">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2017</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~2,100 - 2,400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Estimated</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938285960"/>
                  </a:ext>
                </a:extLst>
              </a:tr>
              <a:tr h="256896">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2016</a:t>
                      </a:r>
                      <a:endParaRPr lang="en-IN" sz="1600" b="1"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ctr" fontAlgn="ctr">
                        <a:buNone/>
                      </a:pPr>
                      <a:r>
                        <a:rPr lang="en-IN" sz="1600" u="none" strike="noStrike" dirty="0">
                          <a:effectLst/>
                          <a:latin typeface="Cambria" panose="02040503050406030204" pitchFamily="18" charset="0"/>
                          <a:ea typeface="Cambria" panose="02040503050406030204" pitchFamily="18" charset="0"/>
                        </a:rPr>
                        <a:t>~2,000 - 2,300 mm</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tc>
                  <a:txBody>
                    <a:bodyPr/>
                    <a:lstStyle/>
                    <a:p>
                      <a:pPr algn="l" fontAlgn="ctr">
                        <a:buNone/>
                      </a:pPr>
                      <a:r>
                        <a:rPr lang="en-IN" sz="1600" u="none" strike="noStrike" dirty="0">
                          <a:effectLst/>
                          <a:latin typeface="Cambria" panose="02040503050406030204" pitchFamily="18" charset="0"/>
                          <a:ea typeface="Cambria" panose="02040503050406030204" pitchFamily="18" charset="0"/>
                        </a:rPr>
                        <a:t>Estimated </a:t>
                      </a:r>
                      <a:endParaRPr lang="en-IN"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ctr"/>
                </a:tc>
                <a:extLst>
                  <a:ext uri="{0D108BD9-81ED-4DB2-BD59-A6C34878D82A}">
                    <a16:rowId xmlns:a16="http://schemas.microsoft.com/office/drawing/2014/main" val="1169499978"/>
                  </a:ext>
                </a:extLst>
              </a:tr>
            </a:tbl>
          </a:graphicData>
        </a:graphic>
      </p:graphicFrame>
      <p:sp>
        <p:nvSpPr>
          <p:cNvPr id="4" name="TextBox 3">
            <a:extLst>
              <a:ext uri="{FF2B5EF4-FFF2-40B4-BE49-F238E27FC236}">
                <a16:creationId xmlns:a16="http://schemas.microsoft.com/office/drawing/2014/main" id="{532BD2DF-23D0-149F-D22B-F25FD9269E40}"/>
              </a:ext>
            </a:extLst>
          </p:cNvPr>
          <p:cNvSpPr txBox="1"/>
          <p:nvPr/>
        </p:nvSpPr>
        <p:spPr>
          <a:xfrm>
            <a:off x="1057275" y="5724525"/>
            <a:ext cx="8201025" cy="369332"/>
          </a:xfrm>
          <a:prstGeom prst="rect">
            <a:avLst/>
          </a:prstGeom>
          <a:noFill/>
        </p:spPr>
        <p:txBody>
          <a:bodyPr wrap="square" rtlCol="0">
            <a:spAutoFit/>
          </a:bodyPr>
          <a:lstStyle/>
          <a:p>
            <a:r>
              <a:rPr lang="en-US" dirty="0"/>
              <a:t>Source : DNH Rainfall Details https://ddd.gov.in/dnh-rainfall-details-2025/</a:t>
            </a:r>
            <a:endParaRPr lang="en-IN" dirty="0"/>
          </a:p>
        </p:txBody>
      </p:sp>
    </p:spTree>
    <p:extLst>
      <p:ext uri="{BB962C8B-B14F-4D97-AF65-F5344CB8AC3E}">
        <p14:creationId xmlns:p14="http://schemas.microsoft.com/office/powerpoint/2010/main" val="2671307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034B943-3324-F0DA-CA84-5459E01E7197}"/>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342771C7-CB4F-22A5-3E1A-D8DA1F32F920}"/>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Why This Research?</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24DFF03C-8D08-D102-817B-59F04FB70A46}"/>
              </a:ext>
            </a:extLst>
          </p:cNvPr>
          <p:cNvSpPr txBox="1">
            <a:spLocks noChangeArrowheads="1"/>
          </p:cNvSpPr>
          <p:nvPr/>
        </p:nvSpPr>
        <p:spPr bwMode="auto">
          <a:xfrm>
            <a:off x="341812" y="1058834"/>
            <a:ext cx="10640196" cy="161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marL="342900" indent="-342900" eaLnBrk="1" hangingPunct="1">
              <a:lnSpc>
                <a:spcPct val="150000"/>
              </a:lnSpc>
              <a:buFont typeface="+mj-lt"/>
              <a:buAutoNum type="arabicPeriod"/>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67AC7DD9-BC58-D3A1-9560-8AF2FCEB57A0}"/>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5</a:t>
            </a:fld>
            <a:endParaRPr lang="en-IN" dirty="0">
              <a:latin typeface="Proxima Nova Cn Bl" panose="02000506030000020004" pitchFamily="50" charset="0"/>
            </a:endParaRPr>
          </a:p>
        </p:txBody>
      </p:sp>
      <p:pic>
        <p:nvPicPr>
          <p:cNvPr id="4" name="Picture 3">
            <a:extLst>
              <a:ext uri="{FF2B5EF4-FFF2-40B4-BE49-F238E27FC236}">
                <a16:creationId xmlns:a16="http://schemas.microsoft.com/office/drawing/2014/main" id="{57D63E5A-5C1A-E0FC-D931-556B72E7B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573" y="1152401"/>
            <a:ext cx="10751103" cy="4800847"/>
          </a:xfrm>
          <a:prstGeom prst="rect">
            <a:avLst/>
          </a:prstGeom>
        </p:spPr>
      </p:pic>
      <p:sp>
        <p:nvSpPr>
          <p:cNvPr id="6" name="TextBox 5">
            <a:extLst>
              <a:ext uri="{FF2B5EF4-FFF2-40B4-BE49-F238E27FC236}">
                <a16:creationId xmlns:a16="http://schemas.microsoft.com/office/drawing/2014/main" id="{10BA455E-4803-05F8-AD44-E2487282FB56}"/>
              </a:ext>
            </a:extLst>
          </p:cNvPr>
          <p:cNvSpPr txBox="1"/>
          <p:nvPr/>
        </p:nvSpPr>
        <p:spPr>
          <a:xfrm>
            <a:off x="685800" y="6057900"/>
            <a:ext cx="9191625" cy="369332"/>
          </a:xfrm>
          <a:prstGeom prst="rect">
            <a:avLst/>
          </a:prstGeom>
          <a:noFill/>
        </p:spPr>
        <p:txBody>
          <a:bodyPr wrap="square" rtlCol="0">
            <a:spAutoFit/>
          </a:bodyPr>
          <a:lstStyle/>
          <a:p>
            <a:r>
              <a:rPr lang="en-US" dirty="0"/>
              <a:t>Source : World Resource Institute, Aqueduct 2019</a:t>
            </a:r>
            <a:endParaRPr lang="en-IN" dirty="0"/>
          </a:p>
        </p:txBody>
      </p:sp>
    </p:spTree>
    <p:extLst>
      <p:ext uri="{BB962C8B-B14F-4D97-AF65-F5344CB8AC3E}">
        <p14:creationId xmlns:p14="http://schemas.microsoft.com/office/powerpoint/2010/main" val="1621686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6A11671-5C75-4836-9939-2B8698468CE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CD1D3710-3353-6893-476B-B879544101F7}"/>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Why This Research?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9C28AD14-A292-C486-B2B0-E3C568F9AF36}"/>
              </a:ext>
            </a:extLst>
          </p:cNvPr>
          <p:cNvSpPr txBox="1">
            <a:spLocks noChangeArrowheads="1"/>
          </p:cNvSpPr>
          <p:nvPr/>
        </p:nvSpPr>
        <p:spPr bwMode="auto">
          <a:xfrm>
            <a:off x="341812" y="1058834"/>
            <a:ext cx="10640196" cy="7063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Water resource management connected with environment, farming, irrigation, energy production, sewage treatment and  Urban or Rural Water Consumption</a:t>
            </a: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Water is a critical resource of survival and development.</a:t>
            </a: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Increasing population, urbanization and industrial growth are increasing water demand.</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Climate change and irregular rainfall are reducing water availability.</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Dadra &amp; Nagar Haveli faces seasonal water scarcity despite high rainfall due to runoff and poor management.</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Traditional forecasting methods are inaccurate and static.</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Data Mining can provide accurate, dynamic and real time forecasting. </a:t>
            </a:r>
          </a:p>
          <a:p>
            <a:pPr marL="285750" indent="-285750">
              <a:spcAft>
                <a:spcPts val="1200"/>
              </a:spcAft>
              <a:buFont typeface="Arial" panose="020B0604020202020204" pitchFamily="34" charset="0"/>
              <a:buChar char="•"/>
            </a:pPr>
            <a:r>
              <a:rPr lang="en-US" altLang="en-US" sz="1600" dirty="0">
                <a:solidFill>
                  <a:srgbClr val="002060"/>
                </a:solidFill>
                <a:latin typeface="Cambria" panose="02040503050406030204" pitchFamily="18" charset="0"/>
                <a:ea typeface="Cambria" panose="02040503050406030204" pitchFamily="18" charset="0"/>
                <a:sym typeface="Proxima Nova" charset="0"/>
              </a:rPr>
              <a:t>With the help of AI in Water demand forecasting we can achieve :</a:t>
            </a:r>
          </a:p>
          <a:p>
            <a:pPr marL="1028700" lvl="1">
              <a:spcAft>
                <a:spcPts val="1200"/>
              </a:spcAft>
              <a:buFont typeface="Arial" panose="020B0604020202020204" pitchFamily="34" charset="0"/>
              <a:buChar char="•"/>
            </a:pPr>
            <a:r>
              <a:rPr lang="en-US" altLang="en-US" sz="1600" dirty="0">
                <a:solidFill>
                  <a:srgbClr val="002060"/>
                </a:solidFill>
                <a:latin typeface="Cambria" panose="02040503050406030204" pitchFamily="18" charset="0"/>
                <a:ea typeface="Cambria" panose="02040503050406030204" pitchFamily="18" charset="0"/>
                <a:sym typeface="Proxima Nova" charset="0"/>
              </a:rPr>
              <a:t>High accuracy short term forecasting</a:t>
            </a:r>
          </a:p>
          <a:p>
            <a:pPr marL="1028700" lvl="1">
              <a:spcAft>
                <a:spcPts val="1200"/>
              </a:spcAft>
              <a:buFont typeface="Arial" panose="020B0604020202020204" pitchFamily="34" charset="0"/>
              <a:buChar char="•"/>
            </a:pPr>
            <a:r>
              <a:rPr lang="en-US" altLang="en-US" sz="1600" dirty="0">
                <a:solidFill>
                  <a:srgbClr val="002060"/>
                </a:solidFill>
                <a:latin typeface="Cambria" panose="02040503050406030204" pitchFamily="18" charset="0"/>
                <a:ea typeface="Cambria" panose="02040503050406030204" pitchFamily="18" charset="0"/>
                <a:sym typeface="Proxima Nova" charset="0"/>
              </a:rPr>
              <a:t>Read time data integration </a:t>
            </a:r>
          </a:p>
          <a:p>
            <a:pPr marL="1028700" lvl="1">
              <a:spcAft>
                <a:spcPts val="1200"/>
              </a:spcAft>
              <a:buFont typeface="Arial" panose="020B0604020202020204" pitchFamily="34" charset="0"/>
              <a:buChar char="•"/>
            </a:pPr>
            <a:r>
              <a:rPr lang="en-US" altLang="en-US" sz="1600" dirty="0">
                <a:solidFill>
                  <a:srgbClr val="002060"/>
                </a:solidFill>
                <a:latin typeface="Cambria" panose="02040503050406030204" pitchFamily="18" charset="0"/>
                <a:ea typeface="Cambria" panose="02040503050406030204" pitchFamily="18" charset="0"/>
                <a:sym typeface="Proxima Nova" charset="0"/>
              </a:rPr>
              <a:t>Scenario simulation </a:t>
            </a:r>
          </a:p>
          <a:p>
            <a:pPr marL="1028700" lvl="1">
              <a:spcAft>
                <a:spcPts val="1200"/>
              </a:spcAft>
              <a:buFont typeface="Arial" panose="020B0604020202020204" pitchFamily="34" charset="0"/>
              <a:buChar char="•"/>
            </a:pPr>
            <a:r>
              <a:rPr lang="en-US" altLang="en-US" sz="1600" dirty="0">
                <a:solidFill>
                  <a:srgbClr val="002060"/>
                </a:solidFill>
                <a:latin typeface="Cambria" panose="02040503050406030204" pitchFamily="18" charset="0"/>
                <a:ea typeface="Cambria" panose="02040503050406030204" pitchFamily="18" charset="0"/>
                <a:sym typeface="Proxima Nova" charset="0"/>
              </a:rPr>
              <a:t>Anomaly and Leak Detection </a:t>
            </a:r>
          </a:p>
          <a:p>
            <a:pPr marL="1028700" lvl="1">
              <a:spcAft>
                <a:spcPts val="1200"/>
              </a:spcAft>
              <a:buFont typeface="Arial" panose="020B0604020202020204" pitchFamily="34" charset="0"/>
              <a:buChar char="•"/>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E58A04CD-8C02-7805-6682-F98C61956546}"/>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6</a:t>
            </a:fld>
            <a:endParaRPr lang="en-IN" dirty="0">
              <a:latin typeface="Proxima Nova Cn Bl" panose="02000506030000020004" pitchFamily="50" charset="0"/>
            </a:endParaRPr>
          </a:p>
        </p:txBody>
      </p:sp>
    </p:spTree>
    <p:extLst>
      <p:ext uri="{BB962C8B-B14F-4D97-AF65-F5344CB8AC3E}">
        <p14:creationId xmlns:p14="http://schemas.microsoft.com/office/powerpoint/2010/main" val="90784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D279B7-31A6-D812-9333-D0C72AB2463C}"/>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35F9A3CC-74DF-BBD6-B245-586DDB171C8B}"/>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Literature Review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0D907EBE-681B-472C-8F16-3F0D24711724}"/>
              </a:ext>
            </a:extLst>
          </p:cNvPr>
          <p:cNvSpPr txBox="1">
            <a:spLocks noChangeArrowheads="1"/>
          </p:cNvSpPr>
          <p:nvPr/>
        </p:nvSpPr>
        <p:spPr bwMode="auto">
          <a:xfrm>
            <a:off x="341812" y="1058834"/>
            <a:ext cx="10640196" cy="161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6593D064-C30E-799A-18AD-5E73D3DDFF94}"/>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7</a:t>
            </a:fld>
            <a:endParaRPr lang="en-IN" dirty="0">
              <a:latin typeface="Proxima Nova Cn Bl" panose="02000506030000020004" pitchFamily="50" charset="0"/>
            </a:endParaRPr>
          </a:p>
        </p:txBody>
      </p:sp>
      <p:graphicFrame>
        <p:nvGraphicFramePr>
          <p:cNvPr id="4" name="Table 3">
            <a:extLst>
              <a:ext uri="{FF2B5EF4-FFF2-40B4-BE49-F238E27FC236}">
                <a16:creationId xmlns:a16="http://schemas.microsoft.com/office/drawing/2014/main" id="{E5423D96-365C-9F80-3089-0C98ADC693EE}"/>
              </a:ext>
            </a:extLst>
          </p:cNvPr>
          <p:cNvGraphicFramePr>
            <a:graphicFrameLocks noGrp="1"/>
          </p:cNvGraphicFramePr>
          <p:nvPr>
            <p:extLst>
              <p:ext uri="{D42A27DB-BD31-4B8C-83A1-F6EECF244321}">
                <p14:modId xmlns:p14="http://schemas.microsoft.com/office/powerpoint/2010/main" val="296804450"/>
              </p:ext>
            </p:extLst>
          </p:nvPr>
        </p:nvGraphicFramePr>
        <p:xfrm>
          <a:off x="666434" y="1151958"/>
          <a:ext cx="10315574" cy="4954407"/>
        </p:xfrm>
        <a:graphic>
          <a:graphicData uri="http://schemas.openxmlformats.org/drawingml/2006/table">
            <a:tbl>
              <a:tblPr>
                <a:tableStyleId>{5C22544A-7EE6-4342-B048-85BDC9FD1C3A}</a:tableStyleId>
              </a:tblPr>
              <a:tblGrid>
                <a:gridCol w="1310355">
                  <a:extLst>
                    <a:ext uri="{9D8B030D-6E8A-4147-A177-3AD203B41FA5}">
                      <a16:colId xmlns:a16="http://schemas.microsoft.com/office/drawing/2014/main" val="2662839123"/>
                    </a:ext>
                  </a:extLst>
                </a:gridCol>
                <a:gridCol w="2327975">
                  <a:extLst>
                    <a:ext uri="{9D8B030D-6E8A-4147-A177-3AD203B41FA5}">
                      <a16:colId xmlns:a16="http://schemas.microsoft.com/office/drawing/2014/main" val="3604952126"/>
                    </a:ext>
                  </a:extLst>
                </a:gridCol>
                <a:gridCol w="1352178">
                  <a:extLst>
                    <a:ext uri="{9D8B030D-6E8A-4147-A177-3AD203B41FA5}">
                      <a16:colId xmlns:a16="http://schemas.microsoft.com/office/drawing/2014/main" val="153892180"/>
                    </a:ext>
                  </a:extLst>
                </a:gridCol>
                <a:gridCol w="1463694">
                  <a:extLst>
                    <a:ext uri="{9D8B030D-6E8A-4147-A177-3AD203B41FA5}">
                      <a16:colId xmlns:a16="http://schemas.microsoft.com/office/drawing/2014/main" val="1147069301"/>
                    </a:ext>
                  </a:extLst>
                </a:gridCol>
                <a:gridCol w="1742496">
                  <a:extLst>
                    <a:ext uri="{9D8B030D-6E8A-4147-A177-3AD203B41FA5}">
                      <a16:colId xmlns:a16="http://schemas.microsoft.com/office/drawing/2014/main" val="3734704779"/>
                    </a:ext>
                  </a:extLst>
                </a:gridCol>
                <a:gridCol w="2118876">
                  <a:extLst>
                    <a:ext uri="{9D8B030D-6E8A-4147-A177-3AD203B41FA5}">
                      <a16:colId xmlns:a16="http://schemas.microsoft.com/office/drawing/2014/main" val="3543979610"/>
                    </a:ext>
                  </a:extLst>
                </a:gridCol>
              </a:tblGrid>
              <a:tr h="185163">
                <a:tc>
                  <a:txBody>
                    <a:bodyPr/>
                    <a:lstStyle/>
                    <a:p>
                      <a:pPr algn="ctr" fontAlgn="ctr">
                        <a:buNone/>
                      </a:pPr>
                      <a:r>
                        <a:rPr lang="en-IN" sz="1200" u="none" strike="noStrike" dirty="0">
                          <a:effectLst/>
                        </a:rPr>
                        <a:t>Ref. No.</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ctr" fontAlgn="ctr">
                        <a:buNone/>
                      </a:pPr>
                      <a:r>
                        <a:rPr lang="en-IN" sz="1200" u="none" strike="noStrike">
                          <a:effectLst/>
                        </a:rPr>
                        <a:t>Paper Title</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ctr" fontAlgn="ctr">
                        <a:buNone/>
                      </a:pPr>
                      <a:r>
                        <a:rPr lang="en-IN" sz="1200" u="none" strike="noStrike">
                          <a:effectLst/>
                        </a:rPr>
                        <a:t>DOI / Source</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ctr" fontAlgn="ctr">
                        <a:buNone/>
                      </a:pPr>
                      <a:r>
                        <a:rPr lang="en-IN" sz="1200" u="none" strike="noStrike">
                          <a:effectLst/>
                        </a:rPr>
                        <a:t>Key Contribution</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ctr" fontAlgn="ctr">
                        <a:buNone/>
                      </a:pPr>
                      <a:r>
                        <a:rPr lang="en-IN" sz="1200" u="none" strike="noStrike">
                          <a:effectLst/>
                        </a:rPr>
                        <a:t>Limitation Identified</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ctr" fontAlgn="ctr">
                        <a:buNone/>
                      </a:pPr>
                      <a:r>
                        <a:rPr lang="en-IN" sz="1200" u="none" strike="noStrike">
                          <a:effectLst/>
                        </a:rPr>
                        <a:t>Detailed Research Gap</a:t>
                      </a:r>
                      <a:endParaRPr lang="en-IN" sz="1200" b="1" i="0" u="none" strike="noStrike">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1382223483"/>
                  </a:ext>
                </a:extLst>
              </a:tr>
              <a:tr h="185163">
                <a:tc>
                  <a:txBody>
                    <a:bodyPr/>
                    <a:lstStyle/>
                    <a:p>
                      <a:pPr algn="l" fontAlgn="ctr">
                        <a:buNone/>
                      </a:pPr>
                      <a:r>
                        <a:rPr lang="en-IN" sz="1200" u="none" strike="noStrike" dirty="0">
                          <a:effectLst/>
                        </a:rPr>
                        <a:t>[9]</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A Study on Developing an AI-Based Water Demand Prediction and Classification Model for </a:t>
                      </a:r>
                      <a:r>
                        <a:rPr lang="en-US" sz="1200" u="none" strike="noStrike" dirty="0" err="1">
                          <a:effectLst/>
                        </a:rPr>
                        <a:t>Gurye</a:t>
                      </a:r>
                      <a:r>
                        <a:rPr lang="en-US" sz="1200" u="none" strike="noStrike" dirty="0">
                          <a:effectLst/>
                        </a:rPr>
                        <a:t> Intake Station</a:t>
                      </a:r>
                      <a:endParaRPr lang="en-US" sz="1200" b="0" i="1"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10.3390/w15234160</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AI classification and demand prediction framework for intake station management</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Region-specific urban dataset; no agricultural application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Need agricultural-region-specific explainable forecasting frameworks for Indian irrigation systems</a:t>
                      </a:r>
                      <a:endParaRPr lang="en-US" sz="1200" b="0" i="0" u="none" strike="noStrike">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769382071"/>
                  </a:ext>
                </a:extLst>
              </a:tr>
              <a:tr h="138872">
                <a:tc>
                  <a:txBody>
                    <a:bodyPr/>
                    <a:lstStyle/>
                    <a:p>
                      <a:pPr algn="l" fontAlgn="ctr">
                        <a:buNone/>
                      </a:pPr>
                      <a:r>
                        <a:rPr lang="en-IN" sz="1200" u="none" strike="noStrike" dirty="0">
                          <a:effectLst/>
                        </a:rPr>
                        <a:t>[10]</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Artificial Neural Networks and Support Vector Machines for Water Demand Time Series Forecasting</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arXiv:0705.0969</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Early ANN and SVM-based forecasting comparison</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Limited computational complexity exploration; outdated architecture</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Need modern deep-learning comparison under sparse agricultural datasets</a:t>
                      </a:r>
                      <a:endParaRPr lang="en-US" sz="1200" b="0" i="0" u="none" strike="noStrike">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735805199"/>
                  </a:ext>
                </a:extLst>
              </a:tr>
              <a:tr h="138872">
                <a:tc>
                  <a:txBody>
                    <a:bodyPr/>
                    <a:lstStyle/>
                    <a:p>
                      <a:pPr algn="l" fontAlgn="ctr">
                        <a:buNone/>
                      </a:pPr>
                      <a:r>
                        <a:rPr lang="en-IN" sz="1200" u="none" strike="noStrike" dirty="0">
                          <a:effectLst/>
                        </a:rPr>
                        <a:t>[11]</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Water Level Prediction and Forecasting Using a Long Short-Term Memory Model</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10.3390/w16131777</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Demonstrates strong temporal forecasting via LSTM</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Water-level only, not irrigation-demand prediction</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Lack of direct agricultural irrigation demand adaptation</a:t>
                      </a:r>
                      <a:endParaRPr lang="en-US" sz="1200" b="0" i="0" u="none" strike="noStrike">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118729496"/>
                  </a:ext>
                </a:extLst>
              </a:tr>
              <a:tr h="138872">
                <a:tc>
                  <a:txBody>
                    <a:bodyPr/>
                    <a:lstStyle/>
                    <a:p>
                      <a:pPr algn="l" fontAlgn="ctr">
                        <a:buNone/>
                      </a:pPr>
                      <a:r>
                        <a:rPr lang="en-IN" sz="1200" u="none" strike="noStrike" dirty="0">
                          <a:effectLst/>
                        </a:rPr>
                        <a:t>[12]</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Water Level Forecasting Using Deep Learning Time-Series Analysis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10.3390/w14121971</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Deep temporal hydrological prediction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No agricultural scheduling integration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Need water-level-to-demand translation models</a:t>
                      </a:r>
                      <a:endParaRPr lang="en-IN" sz="1200" b="0" i="0" u="none" strike="noStrike">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1433714126"/>
                  </a:ext>
                </a:extLst>
              </a:tr>
              <a:tr h="138872">
                <a:tc>
                  <a:txBody>
                    <a:bodyPr/>
                    <a:lstStyle/>
                    <a:p>
                      <a:pPr algn="l" fontAlgn="ctr">
                        <a:buNone/>
                      </a:pPr>
                      <a:r>
                        <a:rPr lang="en-IN" sz="1200" u="none" strike="noStrike" dirty="0">
                          <a:effectLst/>
                        </a:rPr>
                        <a:t>[13]</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Vine Water Status Mapping with Multispectral UAV Imagery and Machine Learning</a:t>
                      </a:r>
                      <a:endParaRPr lang="en-US" sz="1200" b="0" i="1"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10.1007/s00271-022-00788-w</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Combines UAV sensing + ML for precision irrigation</a:t>
                      </a:r>
                      <a:endParaRPr lang="en-IN" sz="1200" b="0"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High infrastructure cost</a:t>
                      </a:r>
                      <a:endParaRPr lang="en-IN" sz="1200" b="0"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Need low-cost deployable sensing systems for rural India</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906157631"/>
                  </a:ext>
                </a:extLst>
              </a:tr>
              <a:tr h="138872">
                <a:tc>
                  <a:txBody>
                    <a:bodyPr/>
                    <a:lstStyle/>
                    <a:p>
                      <a:pPr algn="l" fontAlgn="ctr">
                        <a:buNone/>
                      </a:pPr>
                      <a:r>
                        <a:rPr lang="en-IN" sz="1200" u="none" strike="noStrike" dirty="0">
                          <a:effectLst/>
                        </a:rPr>
                        <a:t>[18]</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Long-Term Water Demand Forecasting Using AI Models in the </a:t>
                      </a:r>
                      <a:r>
                        <a:rPr lang="en-US" sz="1200" u="none" strike="noStrike" dirty="0" err="1">
                          <a:effectLst/>
                        </a:rPr>
                        <a:t>Tuojiang</a:t>
                      </a:r>
                      <a:r>
                        <a:rPr lang="en-US" sz="1200" u="none" strike="noStrike" dirty="0">
                          <a:effectLst/>
                        </a:rPr>
                        <a:t> River Basin</a:t>
                      </a:r>
                      <a:endParaRPr lang="en-US" sz="1200" b="0" i="1"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10.1371/journal.pone.0302558</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Basin-scale long-term forecasting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Large-scale basin focus, not micro-irrigation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Need village/farm-scale forecasting frameworks</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992983147"/>
                  </a:ext>
                </a:extLst>
              </a:tr>
              <a:tr h="138872">
                <a:tc>
                  <a:txBody>
                    <a:bodyPr/>
                    <a:lstStyle/>
                    <a:p>
                      <a:pPr algn="l" fontAlgn="ctr">
                        <a:buNone/>
                      </a:pPr>
                      <a:r>
                        <a:rPr lang="en-IN" sz="1200" u="none" strike="noStrike" dirty="0">
                          <a:effectLst/>
                        </a:rPr>
                        <a:t>[19]</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Rainfall Prediction Using Random Forest and XGBoost – Comparative Study</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10.1109/ICDICI62993.2024.10810907</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RF/XGBoost comparison for rainfall prediction</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No irrigation-water coupling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Need rainfall-demand integrated forecasting systems</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701944889"/>
                  </a:ext>
                </a:extLst>
              </a:tr>
              <a:tr h="138872">
                <a:tc>
                  <a:txBody>
                    <a:bodyPr/>
                    <a:lstStyle/>
                    <a:p>
                      <a:pPr algn="l" fontAlgn="ctr">
                        <a:buNone/>
                      </a:pPr>
                      <a:r>
                        <a:rPr lang="en-IN" sz="1200" u="none" strike="noStrike" dirty="0">
                          <a:effectLst/>
                        </a:rPr>
                        <a:t>[20]</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Enhancing Missing Data of Water Level with Artificial Intelligence</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10.1109/ICADEIS65852.2025.10933384</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AI-based missing-data reconstruction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Reconstruction isolated from forecasting workflow</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Need unified imputation + forecasting pipeline</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4256440409"/>
                  </a:ext>
                </a:extLst>
              </a:tr>
              <a:tr h="138872">
                <a:tc>
                  <a:txBody>
                    <a:bodyPr/>
                    <a:lstStyle/>
                    <a:p>
                      <a:pPr algn="l" fontAlgn="ctr">
                        <a:buNone/>
                      </a:pPr>
                      <a:r>
                        <a:rPr lang="en-IN" sz="1200" u="none" strike="noStrike" dirty="0">
                          <a:effectLst/>
                        </a:rPr>
                        <a:t>[21]</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LSTM-Based Irrigation Water Demand Forecasting for Precision Agriculture in Arid Regions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10.1016/j.compag.2023.108123</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LSTM irrigation forecasting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Region-specific validation only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Generalization to Indian semi-arid conditions missing</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954329156"/>
                  </a:ext>
                </a:extLst>
              </a:tr>
            </a:tbl>
          </a:graphicData>
        </a:graphic>
      </p:graphicFrame>
    </p:spTree>
    <p:extLst>
      <p:ext uri="{BB962C8B-B14F-4D97-AF65-F5344CB8AC3E}">
        <p14:creationId xmlns:p14="http://schemas.microsoft.com/office/powerpoint/2010/main" val="3063397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C6243D0-FA83-F13D-CC1F-5BE3B1210DC2}"/>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9E7D854A-18B4-CADF-8EB5-6C0CA9260982}"/>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Literature Review  </a:t>
            </a:r>
            <a:endParaRPr sz="24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734AB9CB-CE62-37F5-4077-D2B0B5561B52}"/>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8</a:t>
            </a:fld>
            <a:endParaRPr lang="en-IN" dirty="0">
              <a:latin typeface="Proxima Nova Cn Bl" panose="02000506030000020004" pitchFamily="50" charset="0"/>
            </a:endParaRPr>
          </a:p>
        </p:txBody>
      </p:sp>
      <p:graphicFrame>
        <p:nvGraphicFramePr>
          <p:cNvPr id="2" name="Table 1">
            <a:extLst>
              <a:ext uri="{FF2B5EF4-FFF2-40B4-BE49-F238E27FC236}">
                <a16:creationId xmlns:a16="http://schemas.microsoft.com/office/drawing/2014/main" id="{CA9F6C20-64BC-0AA8-DA1C-97D255BA01B9}"/>
              </a:ext>
            </a:extLst>
          </p:cNvPr>
          <p:cNvGraphicFramePr>
            <a:graphicFrameLocks noGrp="1"/>
          </p:cNvGraphicFramePr>
          <p:nvPr>
            <p:extLst>
              <p:ext uri="{D42A27DB-BD31-4B8C-83A1-F6EECF244321}">
                <p14:modId xmlns:p14="http://schemas.microsoft.com/office/powerpoint/2010/main" val="1868401201"/>
              </p:ext>
            </p:extLst>
          </p:nvPr>
        </p:nvGraphicFramePr>
        <p:xfrm>
          <a:off x="819150" y="1206500"/>
          <a:ext cx="10315574" cy="5135004"/>
        </p:xfrm>
        <a:graphic>
          <a:graphicData uri="http://schemas.openxmlformats.org/drawingml/2006/table">
            <a:tbl>
              <a:tblPr>
                <a:tableStyleId>{5C22544A-7EE6-4342-B048-85BDC9FD1C3A}</a:tableStyleId>
              </a:tblPr>
              <a:tblGrid>
                <a:gridCol w="1310355">
                  <a:extLst>
                    <a:ext uri="{9D8B030D-6E8A-4147-A177-3AD203B41FA5}">
                      <a16:colId xmlns:a16="http://schemas.microsoft.com/office/drawing/2014/main" val="2298767352"/>
                    </a:ext>
                  </a:extLst>
                </a:gridCol>
                <a:gridCol w="2327975">
                  <a:extLst>
                    <a:ext uri="{9D8B030D-6E8A-4147-A177-3AD203B41FA5}">
                      <a16:colId xmlns:a16="http://schemas.microsoft.com/office/drawing/2014/main" val="3557614857"/>
                    </a:ext>
                  </a:extLst>
                </a:gridCol>
                <a:gridCol w="1352178">
                  <a:extLst>
                    <a:ext uri="{9D8B030D-6E8A-4147-A177-3AD203B41FA5}">
                      <a16:colId xmlns:a16="http://schemas.microsoft.com/office/drawing/2014/main" val="3818409199"/>
                    </a:ext>
                  </a:extLst>
                </a:gridCol>
                <a:gridCol w="1463694">
                  <a:extLst>
                    <a:ext uri="{9D8B030D-6E8A-4147-A177-3AD203B41FA5}">
                      <a16:colId xmlns:a16="http://schemas.microsoft.com/office/drawing/2014/main" val="726276621"/>
                    </a:ext>
                  </a:extLst>
                </a:gridCol>
                <a:gridCol w="1742496">
                  <a:extLst>
                    <a:ext uri="{9D8B030D-6E8A-4147-A177-3AD203B41FA5}">
                      <a16:colId xmlns:a16="http://schemas.microsoft.com/office/drawing/2014/main" val="2083292514"/>
                    </a:ext>
                  </a:extLst>
                </a:gridCol>
                <a:gridCol w="2118876">
                  <a:extLst>
                    <a:ext uri="{9D8B030D-6E8A-4147-A177-3AD203B41FA5}">
                      <a16:colId xmlns:a16="http://schemas.microsoft.com/office/drawing/2014/main" val="1117431629"/>
                    </a:ext>
                  </a:extLst>
                </a:gridCol>
              </a:tblGrid>
              <a:tr h="138872">
                <a:tc>
                  <a:txBody>
                    <a:bodyPr/>
                    <a:lstStyle/>
                    <a:p>
                      <a:pPr algn="l" fontAlgn="ctr">
                        <a:buNone/>
                      </a:pPr>
                      <a:r>
                        <a:rPr lang="en-IN" sz="1200" u="none" strike="noStrike" dirty="0">
                          <a:effectLst/>
                        </a:rPr>
                        <a:t>[22]</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LSTM-Based Irrigation Water Demand Forecasting for Paddy Fields in Northern China</a:t>
                      </a:r>
                      <a:endParaRPr lang="en-US" sz="1200" b="0" i="1"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10.1016/j.agwat.2021.106618</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Crop-specific irrigation forecasting</a:t>
                      </a:r>
                      <a:endParaRPr lang="en-IN" sz="1200" b="0"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Crop and climate dependency</a:t>
                      </a:r>
                      <a:endParaRPr lang="en-IN" sz="1200" b="0"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Multi-crop adaptive forecasting needed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365689700"/>
                  </a:ext>
                </a:extLst>
              </a:tr>
              <a:tr h="185163">
                <a:tc>
                  <a:txBody>
                    <a:bodyPr/>
                    <a:lstStyle/>
                    <a:p>
                      <a:pPr algn="l" fontAlgn="ctr">
                        <a:buNone/>
                      </a:pPr>
                      <a:r>
                        <a:rPr lang="en-IN" sz="1200" u="none" strike="noStrike" dirty="0">
                          <a:effectLst/>
                        </a:rPr>
                        <a:t>[24]</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LSTM Networks for Multi-Step Ahead Agricultural Water Demand Forecasting under Climate Variability</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10.1016/j.agwat.2022.107618</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Multi-step climate-aware forecasting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Limited interpretability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Explainable climate-aware forecasting required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1290211128"/>
                  </a:ext>
                </a:extLst>
              </a:tr>
              <a:tr h="138872">
                <a:tc>
                  <a:txBody>
                    <a:bodyPr/>
                    <a:lstStyle/>
                    <a:p>
                      <a:pPr algn="l" fontAlgn="ctr">
                        <a:buNone/>
                      </a:pPr>
                      <a:r>
                        <a:rPr lang="en-IN" sz="1200" u="none" strike="noStrike" dirty="0">
                          <a:effectLst/>
                        </a:rPr>
                        <a:t>[25]</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Hybrid LSTM-CNN Models for Temporal-Spatial Water Demand Prediction in Irrigation Districts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e2021WR031456</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Hybrid spatiotemporal prediction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High computational demand</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Lightweight edge-deployable hybrid models needed</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1868616117"/>
                  </a:ext>
                </a:extLst>
              </a:tr>
              <a:tr h="138872">
                <a:tc>
                  <a:txBody>
                    <a:bodyPr/>
                    <a:lstStyle/>
                    <a:p>
                      <a:pPr algn="l" fontAlgn="ctr">
                        <a:buNone/>
                      </a:pPr>
                      <a:r>
                        <a:rPr lang="en-IN" sz="1200" u="none" strike="noStrike" dirty="0">
                          <a:effectLst/>
                        </a:rPr>
                        <a:t>[26]</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Comparative Analysis of LSTM and ARIMA Models for Crop Water Requirement Forecasting</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10.1007/s11269-020-02600-4</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Benchmark statistical vs deep learning methods</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Static performance comparison only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Adaptive online-learning comparison missing</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991348085"/>
                  </a:ext>
                </a:extLst>
              </a:tr>
              <a:tr h="138872">
                <a:tc>
                  <a:txBody>
                    <a:bodyPr/>
                    <a:lstStyle/>
                    <a:p>
                      <a:pPr algn="l" fontAlgn="ctr">
                        <a:buNone/>
                      </a:pPr>
                      <a:r>
                        <a:rPr lang="en-IN" sz="1200" u="none" strike="noStrike" dirty="0">
                          <a:effectLst/>
                        </a:rPr>
                        <a:t>[27]</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Explainable AI for Agricultural Water Management: A Framework for Interpretable ML Models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AI in Agriculture, 2022</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XAI framework for trustable predictions</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Conceptual; no field deployment</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Real-world explainable irrigation systems needed</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508218118"/>
                  </a:ext>
                </a:extLst>
              </a:tr>
              <a:tr h="185163">
                <a:tc>
                  <a:txBody>
                    <a:bodyPr/>
                    <a:lstStyle/>
                    <a:p>
                      <a:pPr algn="l" fontAlgn="ctr">
                        <a:buNone/>
                      </a:pPr>
                      <a:r>
                        <a:rPr lang="en-IN" sz="1200" u="none" strike="noStrike" dirty="0">
                          <a:effectLst/>
                        </a:rPr>
                        <a:t>[28]</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Multi-Step Ahead Forecasting of Agricultural Water Use Under Climate Variability Using LSTM Networks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10.1016/j.jhydrol.2021.126424</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Climate-integrated LSTM forecasting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Large-scale hydro focus</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Micro-regional adaptation needed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613676024"/>
                  </a:ext>
                </a:extLst>
              </a:tr>
              <a:tr h="138872">
                <a:tc>
                  <a:txBody>
                    <a:bodyPr/>
                    <a:lstStyle/>
                    <a:p>
                      <a:pPr algn="l" fontAlgn="ctr">
                        <a:buNone/>
                      </a:pPr>
                      <a:r>
                        <a:rPr lang="en-IN" sz="1200" u="none" strike="noStrike" dirty="0">
                          <a:effectLst/>
                        </a:rPr>
                        <a:t>[30]</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Hybrid LSTM-XGBoost Models for Water Demand Forecasting in Large River Basins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Water Resources Management (2022)</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Hybrid forecasting accuracy gains</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Computational complexity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Optimization for low-resource devices missing</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300420230"/>
                  </a:ext>
                </a:extLst>
              </a:tr>
              <a:tr h="138872">
                <a:tc>
                  <a:txBody>
                    <a:bodyPr/>
                    <a:lstStyle/>
                    <a:p>
                      <a:pPr algn="l" fontAlgn="ctr">
                        <a:buNone/>
                      </a:pPr>
                      <a:r>
                        <a:rPr lang="en-IN" sz="1200" u="none" strike="noStrike" dirty="0">
                          <a:effectLst/>
                        </a:rPr>
                        <a:t>[33]</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Hyperparameter Optimization for Deep Learning Models in Agricultural Water Forecasting</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10.1016/j.mlwa.2022.100298</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Automated DL optimization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High processing overhead</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Low-cost </a:t>
                      </a:r>
                      <a:r>
                        <a:rPr lang="en-IN" sz="1200" u="none" strike="noStrike" dirty="0" err="1">
                          <a:effectLst/>
                        </a:rPr>
                        <a:t>AutoML</a:t>
                      </a:r>
                      <a:r>
                        <a:rPr lang="en-IN" sz="1200" u="none" strike="noStrike" dirty="0">
                          <a:effectLst/>
                        </a:rPr>
                        <a:t> frameworks required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386630769"/>
                  </a:ext>
                </a:extLst>
              </a:tr>
              <a:tr h="185163">
                <a:tc>
                  <a:txBody>
                    <a:bodyPr/>
                    <a:lstStyle/>
                    <a:p>
                      <a:pPr algn="l" fontAlgn="ctr">
                        <a:buNone/>
                      </a:pPr>
                      <a:r>
                        <a:rPr lang="en-IN" sz="1200" u="none" strike="noStrike" dirty="0">
                          <a:effectLst/>
                        </a:rPr>
                        <a:t>[35]</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Ensemble Methods for Robust Agricultural Water Demand Prediction in Data-Scarce Environments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e2021WR030234</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Robust forecasting under limited data</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No explainability layer</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Interpretable sparse-data ensemble models needed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33913523"/>
                  </a:ext>
                </a:extLst>
              </a:tr>
            </a:tbl>
          </a:graphicData>
        </a:graphic>
      </p:graphicFrame>
    </p:spTree>
    <p:extLst>
      <p:ext uri="{BB962C8B-B14F-4D97-AF65-F5344CB8AC3E}">
        <p14:creationId xmlns:p14="http://schemas.microsoft.com/office/powerpoint/2010/main" val="1510457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E4A965C-CEBF-A57D-7695-941E9E2CE0CD}"/>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8A231694-200C-B313-E021-630C7F1C8495}"/>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Literature Review  </a:t>
            </a:r>
            <a:endParaRPr sz="24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601108A2-1123-D210-B2C9-4DF96BCD3831}"/>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9</a:t>
            </a:fld>
            <a:endParaRPr lang="en-IN" dirty="0">
              <a:latin typeface="Proxima Nova Cn Bl" panose="02000506030000020004" pitchFamily="50" charset="0"/>
            </a:endParaRPr>
          </a:p>
        </p:txBody>
      </p:sp>
      <p:graphicFrame>
        <p:nvGraphicFramePr>
          <p:cNvPr id="4" name="Table 3">
            <a:extLst>
              <a:ext uri="{FF2B5EF4-FFF2-40B4-BE49-F238E27FC236}">
                <a16:creationId xmlns:a16="http://schemas.microsoft.com/office/drawing/2014/main" id="{FD42F1D2-C4CC-0D6E-6AA1-6155E25B0FBB}"/>
              </a:ext>
            </a:extLst>
          </p:cNvPr>
          <p:cNvGraphicFramePr>
            <a:graphicFrameLocks noGrp="1"/>
          </p:cNvGraphicFramePr>
          <p:nvPr>
            <p:extLst>
              <p:ext uri="{D42A27DB-BD31-4B8C-83A1-F6EECF244321}">
                <p14:modId xmlns:p14="http://schemas.microsoft.com/office/powerpoint/2010/main" val="980803911"/>
              </p:ext>
            </p:extLst>
          </p:nvPr>
        </p:nvGraphicFramePr>
        <p:xfrm>
          <a:off x="771525" y="1054100"/>
          <a:ext cx="10315574" cy="5685240"/>
        </p:xfrm>
        <a:graphic>
          <a:graphicData uri="http://schemas.openxmlformats.org/drawingml/2006/table">
            <a:tbl>
              <a:tblPr>
                <a:tableStyleId>{5C22544A-7EE6-4342-B048-85BDC9FD1C3A}</a:tableStyleId>
              </a:tblPr>
              <a:tblGrid>
                <a:gridCol w="1310355">
                  <a:extLst>
                    <a:ext uri="{9D8B030D-6E8A-4147-A177-3AD203B41FA5}">
                      <a16:colId xmlns:a16="http://schemas.microsoft.com/office/drawing/2014/main" val="432594243"/>
                    </a:ext>
                  </a:extLst>
                </a:gridCol>
                <a:gridCol w="2327975">
                  <a:extLst>
                    <a:ext uri="{9D8B030D-6E8A-4147-A177-3AD203B41FA5}">
                      <a16:colId xmlns:a16="http://schemas.microsoft.com/office/drawing/2014/main" val="2933445131"/>
                    </a:ext>
                  </a:extLst>
                </a:gridCol>
                <a:gridCol w="1352178">
                  <a:extLst>
                    <a:ext uri="{9D8B030D-6E8A-4147-A177-3AD203B41FA5}">
                      <a16:colId xmlns:a16="http://schemas.microsoft.com/office/drawing/2014/main" val="2925922371"/>
                    </a:ext>
                  </a:extLst>
                </a:gridCol>
                <a:gridCol w="1463694">
                  <a:extLst>
                    <a:ext uri="{9D8B030D-6E8A-4147-A177-3AD203B41FA5}">
                      <a16:colId xmlns:a16="http://schemas.microsoft.com/office/drawing/2014/main" val="1418499634"/>
                    </a:ext>
                  </a:extLst>
                </a:gridCol>
                <a:gridCol w="1742496">
                  <a:extLst>
                    <a:ext uri="{9D8B030D-6E8A-4147-A177-3AD203B41FA5}">
                      <a16:colId xmlns:a16="http://schemas.microsoft.com/office/drawing/2014/main" val="1195339600"/>
                    </a:ext>
                  </a:extLst>
                </a:gridCol>
                <a:gridCol w="2118876">
                  <a:extLst>
                    <a:ext uri="{9D8B030D-6E8A-4147-A177-3AD203B41FA5}">
                      <a16:colId xmlns:a16="http://schemas.microsoft.com/office/drawing/2014/main" val="2452484917"/>
                    </a:ext>
                  </a:extLst>
                </a:gridCol>
              </a:tblGrid>
              <a:tr h="185163">
                <a:tc>
                  <a:txBody>
                    <a:bodyPr/>
                    <a:lstStyle/>
                    <a:p>
                      <a:pPr algn="l" fontAlgn="ctr">
                        <a:buNone/>
                      </a:pPr>
                      <a:r>
                        <a:rPr lang="en-IN" sz="1200" u="none" strike="noStrike" dirty="0">
                          <a:effectLst/>
                        </a:rPr>
                        <a:t>[36]</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Gradient Boosting Algorithms for Irrigation Water Demand Forecasting in Portuguese Agricultural Regions</a:t>
                      </a:r>
                      <a:endParaRPr lang="en-US" sz="1200" b="0" i="1"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10.1016/j.agwat.2021.106759</a:t>
                      </a:r>
                      <a:endParaRPr lang="en-IN" sz="1200" b="1"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Boosting model efficiency</a:t>
                      </a:r>
                      <a:endParaRPr lang="en-IN" sz="1200" b="0"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Region dependence</a:t>
                      </a:r>
                      <a:endParaRPr lang="en-IN" sz="1200" b="0" i="0" u="none" strike="noStrike" dirty="0">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Transfer learning across </a:t>
                      </a:r>
                      <a:r>
                        <a:rPr lang="en-US" sz="1200" u="none" strike="noStrike" dirty="0" err="1">
                          <a:effectLst/>
                        </a:rPr>
                        <a:t>agro</a:t>
                      </a:r>
                      <a:r>
                        <a:rPr lang="en-US" sz="1200" u="none" strike="noStrike" dirty="0">
                          <a:effectLst/>
                        </a:rPr>
                        <a:t>-climatic regions needed</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1379954451"/>
                  </a:ext>
                </a:extLst>
              </a:tr>
              <a:tr h="185163">
                <a:tc>
                  <a:txBody>
                    <a:bodyPr/>
                    <a:lstStyle/>
                    <a:p>
                      <a:pPr algn="l" fontAlgn="ctr">
                        <a:buNone/>
                      </a:pPr>
                      <a:r>
                        <a:rPr lang="en-IN" sz="1200" u="none" strike="noStrike">
                          <a:effectLst/>
                        </a:rPr>
                        <a:t>[37]</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XGBoost-Based Ensemble Learning for Agricultural Water Demand Prediction in Monsoon-Dependent Regions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10.1016/j.jhydrol.2021.127108</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Monsoon-region forecasting relevance</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Limited adaptive retraining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Dynamic seasonal adaptation required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1116894733"/>
                  </a:ext>
                </a:extLst>
              </a:tr>
              <a:tr h="138872">
                <a:tc>
                  <a:txBody>
                    <a:bodyPr/>
                    <a:lstStyle/>
                    <a:p>
                      <a:pPr algn="l" fontAlgn="ctr">
                        <a:buNone/>
                      </a:pPr>
                      <a:r>
                        <a:rPr lang="en-IN" sz="1200" u="none" strike="noStrike">
                          <a:effectLst/>
                        </a:rPr>
                        <a:t>[41]</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K-Means Clustering for Agricultural Water Demand Zoning in Semi-Arid Gujarat</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10.1016/j.agwat.2023.108320</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Demand zoning for irrigation management</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Static clustering only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Dynamic predictive clustering integration needed</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672215707"/>
                  </a:ext>
                </a:extLst>
              </a:tr>
              <a:tr h="138872">
                <a:tc>
                  <a:txBody>
                    <a:bodyPr/>
                    <a:lstStyle/>
                    <a:p>
                      <a:pPr algn="l" fontAlgn="ctr">
                        <a:buNone/>
                      </a:pPr>
                      <a:r>
                        <a:rPr lang="en-IN" sz="1200" u="none" strike="noStrike">
                          <a:effectLst/>
                        </a:rPr>
                        <a:t>[42]</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Unsupervised Learning for Irrigation Pattern Recognition Using Hierarchical Clustering</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10.1016/j.compag.2022.107077</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Irrigation pattern discovery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No forecasting linkage</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Hybrid clustering + forecasting pipeline needed</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596910634"/>
                  </a:ext>
                </a:extLst>
              </a:tr>
              <a:tr h="138872">
                <a:tc>
                  <a:txBody>
                    <a:bodyPr/>
                    <a:lstStyle/>
                    <a:p>
                      <a:pPr algn="l" fontAlgn="ctr">
                        <a:buNone/>
                      </a:pPr>
                      <a:r>
                        <a:rPr lang="en-IN" sz="1200" u="none" strike="noStrike">
                          <a:effectLst/>
                        </a:rPr>
                        <a:t>[43]</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Village-Level Demand Zone Identification Using K-Means and PCA</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10.1007/s11269-021-02955-3</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Localized demand segmentation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Limited temporal forecasting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Real-time zone adaptation missing</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643673181"/>
                  </a:ext>
                </a:extLst>
              </a:tr>
              <a:tr h="138872">
                <a:tc>
                  <a:txBody>
                    <a:bodyPr/>
                    <a:lstStyle/>
                    <a:p>
                      <a:pPr algn="l" fontAlgn="ctr">
                        <a:buNone/>
                      </a:pPr>
                      <a:r>
                        <a:rPr lang="en-IN" sz="1200" u="none" strike="noStrike">
                          <a:effectLst/>
                        </a:rPr>
                        <a:t>[51]</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Climate-Aware Machine Learning Models for Irrigation Forecasting under Changing Rainfall Patterns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Climate Dynamics, 2022</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Climate-aware forecasting</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Regional climate transferability unclear</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Cross-region adaptation models needed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2076558370"/>
                  </a:ext>
                </a:extLst>
              </a:tr>
              <a:tr h="138872">
                <a:tc>
                  <a:txBody>
                    <a:bodyPr/>
                    <a:lstStyle/>
                    <a:p>
                      <a:pPr algn="l" fontAlgn="ctr">
                        <a:buNone/>
                      </a:pPr>
                      <a:r>
                        <a:rPr lang="en-IN" sz="1200" u="none" strike="noStrike">
                          <a:effectLst/>
                        </a:rPr>
                        <a:t>[53]</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CMIP6 Climate Projections Integration in Agricultural Water Demand Models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Climatic Change (2021)</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Climate scenario integration</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Long-term planning only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Short-term operational climate adaptation missing</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291247881"/>
                  </a:ext>
                </a:extLst>
              </a:tr>
              <a:tr h="138872">
                <a:tc>
                  <a:txBody>
                    <a:bodyPr/>
                    <a:lstStyle/>
                    <a:p>
                      <a:pPr algn="l" fontAlgn="ctr">
                        <a:buNone/>
                      </a:pPr>
                      <a:r>
                        <a:rPr lang="en-IN" sz="1200" u="none" strike="noStrike">
                          <a:effectLst/>
                        </a:rPr>
                        <a:t>[55]</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Adaptive Learning Algorithms for Dynamic Agricultural Water Demand Prediction</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10.1016/j.compag.2021.106512</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Adaptive model updates</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Computational complexity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dirty="0">
                          <a:effectLst/>
                        </a:rPr>
                        <a:t>Lightweight adaptive models needed</a:t>
                      </a:r>
                      <a:endParaRPr lang="en-IN"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165254103"/>
                  </a:ext>
                </a:extLst>
              </a:tr>
              <a:tr h="138872">
                <a:tc>
                  <a:txBody>
                    <a:bodyPr/>
                    <a:lstStyle/>
                    <a:p>
                      <a:pPr algn="l" fontAlgn="ctr">
                        <a:buNone/>
                      </a:pPr>
                      <a:r>
                        <a:rPr lang="en-IN" sz="1200" u="none" strike="noStrike">
                          <a:effectLst/>
                        </a:rPr>
                        <a:t>[61]</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IoT Sensor Networks for Real-Time Agricultural Water Monitoring and Forecasting</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10.3390/s21155108</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Real-time monitoring framework</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Sensor maintenance dependency</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Robust sparse-sensor forecasting systems needed</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520980006"/>
                  </a:ext>
                </a:extLst>
              </a:tr>
              <a:tr h="138872">
                <a:tc>
                  <a:txBody>
                    <a:bodyPr/>
                    <a:lstStyle/>
                    <a:p>
                      <a:pPr algn="l" fontAlgn="ctr">
                        <a:buNone/>
                      </a:pPr>
                      <a:r>
                        <a:rPr lang="en-IN" sz="1200" u="none" strike="noStrike">
                          <a:effectLst/>
                        </a:rPr>
                        <a:t>[64]</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Blockchain-Based Data Integrity for Agricultural Water Management Systems</a:t>
                      </a:r>
                      <a:endParaRPr lang="en-US" sz="1200" b="0" i="1"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10.1016/j.compag.2022.106652</a:t>
                      </a:r>
                      <a:endParaRPr lang="en-IN" sz="1200" b="1"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a:effectLst/>
                        </a:rPr>
                        <a:t>Secure agricultural water data systems</a:t>
                      </a:r>
                      <a:endParaRPr lang="en-US"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IN" sz="1200" u="none" strike="noStrike">
                          <a:effectLst/>
                        </a:rPr>
                        <a:t>High infrastructure overhead</a:t>
                      </a:r>
                      <a:endParaRPr lang="en-IN" sz="1200" b="0" i="0" u="none" strike="noStrike">
                        <a:solidFill>
                          <a:srgbClr val="000000"/>
                        </a:solidFill>
                        <a:effectLst/>
                        <a:latin typeface="Calibri" panose="020F0502020204030204" pitchFamily="34" charset="0"/>
                      </a:endParaRPr>
                    </a:p>
                  </a:txBody>
                  <a:tcPr marL="1596" marR="1596" marT="1596" marB="0" anchor="ctr"/>
                </a:tc>
                <a:tc>
                  <a:txBody>
                    <a:bodyPr/>
                    <a:lstStyle/>
                    <a:p>
                      <a:pPr algn="l" fontAlgn="ctr">
                        <a:buNone/>
                      </a:pPr>
                      <a:r>
                        <a:rPr lang="en-US" sz="1200" u="none" strike="noStrike" dirty="0">
                          <a:effectLst/>
                        </a:rPr>
                        <a:t>Cost-effective security frameworks for rural deployment</a:t>
                      </a:r>
                      <a:endParaRPr lang="en-US" sz="1200" b="0" i="0" u="none" strike="noStrike" dirty="0">
                        <a:solidFill>
                          <a:srgbClr val="000000"/>
                        </a:solidFill>
                        <a:effectLst/>
                        <a:latin typeface="Calibri" panose="020F0502020204030204" pitchFamily="34" charset="0"/>
                      </a:endParaRPr>
                    </a:p>
                  </a:txBody>
                  <a:tcPr marL="1596" marR="1596" marT="1596" marB="0" anchor="ctr"/>
                </a:tc>
                <a:extLst>
                  <a:ext uri="{0D108BD9-81ED-4DB2-BD59-A6C34878D82A}">
                    <a16:rowId xmlns:a16="http://schemas.microsoft.com/office/drawing/2014/main" val="3868750087"/>
                  </a:ext>
                </a:extLst>
              </a:tr>
            </a:tbl>
          </a:graphicData>
        </a:graphic>
      </p:graphicFrame>
    </p:spTree>
    <p:extLst>
      <p:ext uri="{BB962C8B-B14F-4D97-AF65-F5344CB8AC3E}">
        <p14:creationId xmlns:p14="http://schemas.microsoft.com/office/powerpoint/2010/main" val="1070194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9DBDD86-6609-6312-83D8-42F831B3A88F}"/>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928FB7B9-DC3B-B09C-FE3E-5B60A3463EA3}"/>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Literature Review  </a:t>
            </a:r>
            <a:endParaRPr sz="24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D80343C5-2828-1A7E-A5A6-2DCD702C52D5}"/>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10</a:t>
            </a:fld>
            <a:endParaRPr lang="en-IN" dirty="0">
              <a:latin typeface="Proxima Nova Cn Bl" panose="02000506030000020004" pitchFamily="50" charset="0"/>
            </a:endParaRPr>
          </a:p>
        </p:txBody>
      </p:sp>
      <p:pic>
        <p:nvPicPr>
          <p:cNvPr id="2" name="Picture 1">
            <a:extLst>
              <a:ext uri="{FF2B5EF4-FFF2-40B4-BE49-F238E27FC236}">
                <a16:creationId xmlns:a16="http://schemas.microsoft.com/office/drawing/2014/main" id="{90D88B91-B258-E2D3-AFB3-36922968D266}"/>
              </a:ext>
            </a:extLst>
          </p:cNvPr>
          <p:cNvPicPr>
            <a:picLocks noChangeAspect="1"/>
          </p:cNvPicPr>
          <p:nvPr/>
        </p:nvPicPr>
        <p:blipFill>
          <a:blip r:embed="rId3"/>
          <a:stretch>
            <a:fillRect/>
          </a:stretch>
        </p:blipFill>
        <p:spPr>
          <a:xfrm>
            <a:off x="1494790" y="1081087"/>
            <a:ext cx="7706360" cy="4786313"/>
          </a:xfrm>
          <a:prstGeom prst="rect">
            <a:avLst/>
          </a:prstGeom>
        </p:spPr>
      </p:pic>
      <p:sp>
        <p:nvSpPr>
          <p:cNvPr id="6" name="TextBox 5">
            <a:extLst>
              <a:ext uri="{FF2B5EF4-FFF2-40B4-BE49-F238E27FC236}">
                <a16:creationId xmlns:a16="http://schemas.microsoft.com/office/drawing/2014/main" id="{A357A4C1-A99A-E175-3260-AB67AF8F08E6}"/>
              </a:ext>
            </a:extLst>
          </p:cNvPr>
          <p:cNvSpPr txBox="1"/>
          <p:nvPr/>
        </p:nvSpPr>
        <p:spPr>
          <a:xfrm>
            <a:off x="1171575" y="5867400"/>
            <a:ext cx="9448800" cy="1015663"/>
          </a:xfrm>
          <a:prstGeom prst="rect">
            <a:avLst/>
          </a:prstGeom>
          <a:noFill/>
        </p:spPr>
        <p:txBody>
          <a:bodyPr wrap="square" rtlCol="0">
            <a:spAutoFit/>
          </a:bodyPr>
          <a:lstStyle/>
          <a:p>
            <a:r>
              <a:rPr lang="en-US" sz="1400" b="1" dirty="0">
                <a:latin typeface="Cambria" panose="02040503050406030204" pitchFamily="18" charset="0"/>
                <a:ea typeface="Cambria" panose="02040503050406030204" pitchFamily="18" charset="0"/>
              </a:rPr>
              <a:t>Annual publication trends (2020-2025) in agricultural water demand forecasting using data mining techniques.*2025 represents partial year data </a:t>
            </a:r>
            <a:endParaRPr lang="en-IN" sz="1400" dirty="0">
              <a:latin typeface="Cambria" panose="02040503050406030204" pitchFamily="18" charset="0"/>
              <a:ea typeface="Cambria" panose="02040503050406030204" pitchFamily="18" charset="0"/>
            </a:endParaRPr>
          </a:p>
          <a:p>
            <a:r>
              <a:rPr lang="en-US" sz="1400" b="1" dirty="0">
                <a:latin typeface="Cambria" panose="02040503050406030204" pitchFamily="18" charset="0"/>
                <a:ea typeface="Cambria" panose="02040503050406030204" pitchFamily="18" charset="0"/>
              </a:rPr>
              <a:t>(January-October).</a:t>
            </a:r>
            <a:endParaRPr lang="en-IN" sz="1400"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975309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F15FF79-7BEF-874B-6325-0CA6A171410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8D241030-99F0-82BD-F382-4B0B9E4F27FF}"/>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Research Gap</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7D7B5FF2-7D3A-4ACD-32F9-E2549E9D7ABE}"/>
              </a:ext>
            </a:extLst>
          </p:cNvPr>
          <p:cNvSpPr txBox="1">
            <a:spLocks noChangeArrowheads="1"/>
          </p:cNvSpPr>
          <p:nvPr/>
        </p:nvSpPr>
        <p:spPr bwMode="auto">
          <a:xfrm>
            <a:off x="341812" y="1058834"/>
            <a:ext cx="10640196" cy="6232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A recent GIS – Based study for Dadra &amp; Nagar Haveli focuses on water conservation and recharge, potential, not demand forecasting model.</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population growth-based forecast – DNH is rapidly industrializing but future demand projection is missing</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Modern water demand forecasting research integrates weather, socio- economic, and consumption time – series data for accurate prediction.</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industrial water demand forecast – DNH is major industrial territory, yet no study predicts:</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climate change-based demand model – despite 2000-2500 mm rainfall variability, no forecasting study exists. </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This shows no dedicated water demand forecasting model exists for Dadra &amp; Nagar haveli, creating strong research opportunities. </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machine learning based demand forecast – modern models like random forest, LSTM, ARIMA are not applied for DNH</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short – term operational forecast – daily demand prediction, peak demand estimation, summer vs monsoon demand model is not available </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sector – wise demand forecast like domestic demand, industrial demand, agricultural demand, tourism demand </a:t>
            </a: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a:lnSpc>
                <a:spcPct val="150000"/>
              </a:lnSpc>
              <a:spcAft>
                <a:spcPts val="1200"/>
              </a:spcAft>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1727917B-AAD8-6178-9877-2CD358BCAC7E}"/>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11</a:t>
            </a:fld>
            <a:endParaRPr lang="en-IN" dirty="0">
              <a:latin typeface="Proxima Nova Cn Bl" panose="02000506030000020004" pitchFamily="50" charset="0"/>
            </a:endParaRPr>
          </a:p>
        </p:txBody>
      </p:sp>
    </p:spTree>
    <p:extLst>
      <p:ext uri="{BB962C8B-B14F-4D97-AF65-F5344CB8AC3E}">
        <p14:creationId xmlns:p14="http://schemas.microsoft.com/office/powerpoint/2010/main" val="416192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1DD1726-145D-43DD-1F19-4FB4BB90C461}"/>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D3D258BD-BD39-9980-1C75-207B586D7BED}"/>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Research Gap</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C5EA2E98-C1A1-8A71-4864-7476F268546F}"/>
              </a:ext>
            </a:extLst>
          </p:cNvPr>
          <p:cNvSpPr txBox="1">
            <a:spLocks noChangeArrowheads="1"/>
          </p:cNvSpPr>
          <p:nvPr/>
        </p:nvSpPr>
        <p:spPr bwMode="auto">
          <a:xfrm>
            <a:off x="341812" y="1058834"/>
            <a:ext cx="10640196" cy="6079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A recent GIS – Based study for Dadra &amp; Nagar Haveli focuses on water conservation and recharge, potential, not demand forecasting model.</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population growth-based forecast – DNH is rapidly industrializing but future demand projection is missing</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Modern water demand forecasting research integrates weather, socio- economic, and consumption time – series data for accurate prediction.</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industrial water demand forecast – DNH is major industrial territory, yet no study predicts:</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climate change-based demand model – despite 2000-2500 mm rainfall variability, no forecasting study exists.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This shows no dedicated water demand forecasting model exists for Dadra &amp; Nagar haveli, creating strong research opportunities.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machine learning based demand forecast – modern models like random forest, LSTM, ARIMA are not applied for DNH</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short – term operational forecast – daily demand prediction, peak demand estimation, summer vs monsoon demand model is not available </a:t>
            </a:r>
            <a:endParaRPr lang="en-IN" sz="1600" dirty="0">
              <a:solidFill>
                <a:srgbClr val="002060"/>
              </a:solidFill>
              <a:latin typeface="Cambria" panose="02040503050406030204" pitchFamily="18" charset="0"/>
              <a:ea typeface="Cambria" panose="02040503050406030204" pitchFamily="18" charset="0"/>
            </a:endParaRPr>
          </a:p>
          <a:p>
            <a:pPr marL="28575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No sector – wise demand forecast like domestic demand, industrial demand, agricultural demand, tourism demand </a:t>
            </a: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C401AB7A-3A7A-F1F8-D279-562540D737CC}"/>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12</a:t>
            </a:fld>
            <a:endParaRPr lang="en-IN" dirty="0">
              <a:latin typeface="Proxima Nova Cn Bl" panose="02000506030000020004" pitchFamily="50" charset="0"/>
            </a:endParaRPr>
          </a:p>
        </p:txBody>
      </p:sp>
    </p:spTree>
    <p:extLst>
      <p:ext uri="{BB962C8B-B14F-4D97-AF65-F5344CB8AC3E}">
        <p14:creationId xmlns:p14="http://schemas.microsoft.com/office/powerpoint/2010/main" val="1502089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5F7925E-06AF-6A68-837B-43309A683C7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77E26F34-02DA-6420-32D4-A0BD93FFDBE2}"/>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Problem Statement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1E8E037A-3F3C-6FB6-6174-F52C27FCA050}"/>
              </a:ext>
            </a:extLst>
          </p:cNvPr>
          <p:cNvSpPr txBox="1">
            <a:spLocks noChangeArrowheads="1"/>
          </p:cNvSpPr>
          <p:nvPr/>
        </p:nvSpPr>
        <p:spPr bwMode="auto">
          <a:xfrm>
            <a:off x="341812" y="1058834"/>
            <a:ext cx="10640196" cy="309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lnSpc>
                <a:spcPct val="150000"/>
              </a:lnSpc>
            </a:pPr>
            <a:r>
              <a:rPr lang="en-US" sz="1600" dirty="0">
                <a:solidFill>
                  <a:srgbClr val="002060"/>
                </a:solidFill>
                <a:latin typeface="Cambria" panose="02040503050406030204" pitchFamily="18" charset="0"/>
                <a:ea typeface="Cambria" panose="02040503050406030204" pitchFamily="18" charset="0"/>
              </a:rPr>
              <a:t>Agriculture uses 70% of the world’s freshwater, but traditional water management wastes up to 25% of it. This is especially critical in developing regions where water scarcity threatens food security.</a:t>
            </a:r>
          </a:p>
          <a:p>
            <a:pPr algn="just">
              <a:lnSpc>
                <a:spcPct val="150000"/>
              </a:lnSpc>
            </a:pPr>
            <a:endParaRPr lang="en-US" sz="1600" dirty="0">
              <a:solidFill>
                <a:srgbClr val="002060"/>
              </a:solidFill>
              <a:latin typeface="Cambria" panose="02040503050406030204" pitchFamily="18" charset="0"/>
              <a:ea typeface="Cambria" panose="02040503050406030204" pitchFamily="18" charset="0"/>
            </a:endParaRPr>
          </a:p>
          <a:p>
            <a:pPr>
              <a:lnSpc>
                <a:spcPct val="150000"/>
              </a:lnSpc>
            </a:pPr>
            <a:r>
              <a:rPr lang="en-US" sz="1600" dirty="0">
                <a:solidFill>
                  <a:srgbClr val="002060"/>
                </a:solidFill>
                <a:latin typeface="Cambria" panose="02040503050406030204" pitchFamily="18" charset="0"/>
                <a:ea typeface="Cambria" panose="02040503050406030204" pitchFamily="18" charset="0"/>
              </a:rPr>
              <a:t>Existing studies in Dadra and Nagar Haveli primarily focus on water conservation  and recharge potential, while no research has been conduced on water demand forecasting using population, industrial growth and climate variables. This create a critical gap in sustainable water supply planning for the region. </a:t>
            </a:r>
            <a:endParaRPr lang="en-IN" sz="1600" dirty="0">
              <a:solidFill>
                <a:srgbClr val="002060"/>
              </a:solidFill>
              <a:latin typeface="Cambria" panose="02040503050406030204" pitchFamily="18" charset="0"/>
              <a:ea typeface="Cambria" panose="02040503050406030204" pitchFamily="18"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799DCBA1-5C40-41B0-0257-98140A93E0ED}"/>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13</a:t>
            </a:fld>
            <a:endParaRPr lang="en-IN" dirty="0">
              <a:latin typeface="Proxima Nova Cn Bl" panose="02000506030000020004" pitchFamily="50" charset="0"/>
            </a:endParaRPr>
          </a:p>
        </p:txBody>
      </p:sp>
    </p:spTree>
    <p:extLst>
      <p:ext uri="{BB962C8B-B14F-4D97-AF65-F5344CB8AC3E}">
        <p14:creationId xmlns:p14="http://schemas.microsoft.com/office/powerpoint/2010/main" val="162151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D85B810-AA63-24BC-9C4E-95B11F72501D}"/>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0080CDD7-FC24-C17D-38BF-A26CFC859AF4}"/>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Objectives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B09C9391-E546-A8E2-29E6-E93750084813}"/>
              </a:ext>
            </a:extLst>
          </p:cNvPr>
          <p:cNvSpPr txBox="1">
            <a:spLocks noChangeArrowheads="1"/>
          </p:cNvSpPr>
          <p:nvPr/>
        </p:nvSpPr>
        <p:spPr bwMode="auto">
          <a:xfrm>
            <a:off x="341812" y="1058834"/>
            <a:ext cx="10640196" cy="2878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To analyze water consumption patterns in Dadra &amp; Nagar Haveli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To develop a data mining-based forecasting model</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To compare different AI models ( Random – Forest, LSTM , ANN)</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To improve prediction accuracy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12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To support smart water management decisions. </a:t>
            </a:r>
            <a:endParaRPr lang="en-IN" sz="1600" dirty="0">
              <a:solidFill>
                <a:srgbClr val="002060"/>
              </a:solidFill>
              <a:latin typeface="Cambria" panose="02040503050406030204" pitchFamily="18" charset="0"/>
              <a:ea typeface="Cambria" panose="02040503050406030204" pitchFamily="18" charset="0"/>
            </a:endParaRPr>
          </a:p>
          <a:p>
            <a:pPr eaLnBrk="1" hangingPunct="1">
              <a:lnSpc>
                <a:spcPct val="150000"/>
              </a:lnSpc>
            </a:pP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03B16F09-BDF0-B16C-7F54-0609833ABFD1}"/>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14</a:t>
            </a:fld>
            <a:endParaRPr lang="en-IN" dirty="0">
              <a:latin typeface="Proxima Nova Cn Bl" panose="02000506030000020004" pitchFamily="50" charset="0"/>
            </a:endParaRPr>
          </a:p>
        </p:txBody>
      </p:sp>
    </p:spTree>
    <p:extLst>
      <p:ext uri="{BB962C8B-B14F-4D97-AF65-F5344CB8AC3E}">
        <p14:creationId xmlns:p14="http://schemas.microsoft.com/office/powerpoint/2010/main" val="160690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6BB0B7C-7EDB-4B25-65BF-9BD35E159F9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C01B5836-05AD-9B47-DC3E-0B4FACBF6033}"/>
              </a:ext>
            </a:extLst>
          </p:cNvPr>
          <p:cNvSpPr txBox="1">
            <a:spLocks noGrp="1"/>
          </p:cNvSpPr>
          <p:nvPr>
            <p:ph type="title"/>
          </p:nvPr>
        </p:nvSpPr>
        <p:spPr>
          <a:xfrm>
            <a:off x="341812" y="150695"/>
            <a:ext cx="8389053" cy="751488"/>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Future Planning for DAC - 2</a:t>
            </a:r>
            <a:br>
              <a:rPr lang="en-IN" sz="2400" dirty="0"/>
            </a:b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162504FF-0AB4-0892-AADD-6353AEC862DF}"/>
              </a:ext>
            </a:extLst>
          </p:cNvPr>
          <p:cNvSpPr txBox="1">
            <a:spLocks noChangeArrowheads="1"/>
          </p:cNvSpPr>
          <p:nvPr/>
        </p:nvSpPr>
        <p:spPr bwMode="auto">
          <a:xfrm>
            <a:off x="341812" y="1058834"/>
            <a:ext cx="10640196" cy="537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spcAft>
                <a:spcPts val="600"/>
              </a:spcAft>
            </a:pPr>
            <a:r>
              <a:rPr lang="en-IN" sz="1600" dirty="0">
                <a:latin typeface="Cambria" panose="02040503050406030204" pitchFamily="18" charset="0"/>
                <a:ea typeface="Cambria" panose="02040503050406030204" pitchFamily="18" charset="0"/>
              </a:rPr>
              <a:t>1. </a:t>
            </a:r>
            <a:r>
              <a:rPr lang="en-US" sz="1600" dirty="0">
                <a:solidFill>
                  <a:srgbClr val="002060"/>
                </a:solidFill>
                <a:latin typeface="Cambria" panose="02040503050406030204" pitchFamily="18" charset="0"/>
                <a:ea typeface="Cambria" panose="02040503050406030204" pitchFamily="18" charset="0"/>
              </a:rPr>
              <a:t>Data collection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Rainfall Data</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Population Data</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Consumption Record</a:t>
            </a:r>
            <a:endParaRPr lang="en-IN" sz="1600" dirty="0">
              <a:solidFill>
                <a:srgbClr val="002060"/>
              </a:solidFill>
              <a:latin typeface="Cambria" panose="02040503050406030204" pitchFamily="18" charset="0"/>
              <a:ea typeface="Cambria" panose="02040503050406030204" pitchFamily="18" charset="0"/>
            </a:endParaRPr>
          </a:p>
          <a:p>
            <a:pPr lvl="0">
              <a:spcAft>
                <a:spcPts val="600"/>
              </a:spcAft>
            </a:pPr>
            <a:r>
              <a:rPr lang="en-US" sz="1600" dirty="0">
                <a:solidFill>
                  <a:srgbClr val="002060"/>
                </a:solidFill>
                <a:latin typeface="Cambria" panose="02040503050406030204" pitchFamily="18" charset="0"/>
                <a:ea typeface="Cambria" panose="02040503050406030204" pitchFamily="18" charset="0"/>
              </a:rPr>
              <a:t>2. Data Preprocessing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Cleaning, Normalization </a:t>
            </a:r>
            <a:endParaRPr lang="en-IN" sz="1600" dirty="0">
              <a:solidFill>
                <a:srgbClr val="002060"/>
              </a:solidFill>
              <a:latin typeface="Cambria" panose="02040503050406030204" pitchFamily="18" charset="0"/>
              <a:ea typeface="Cambria" panose="02040503050406030204" pitchFamily="18" charset="0"/>
            </a:endParaRPr>
          </a:p>
          <a:p>
            <a:pPr lvl="0">
              <a:spcAft>
                <a:spcPts val="600"/>
              </a:spcAft>
            </a:pPr>
            <a:r>
              <a:rPr lang="en-US" sz="1600" dirty="0">
                <a:solidFill>
                  <a:srgbClr val="002060"/>
                </a:solidFill>
                <a:latin typeface="Cambria" panose="02040503050406030204" pitchFamily="18" charset="0"/>
                <a:ea typeface="Cambria" panose="02040503050406030204" pitchFamily="18" charset="0"/>
              </a:rPr>
              <a:t>3 Model Development</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Random – forest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LSTM </a:t>
            </a:r>
            <a:endParaRPr lang="en-IN" sz="1600" dirty="0">
              <a:solidFill>
                <a:srgbClr val="002060"/>
              </a:solidFill>
              <a:latin typeface="Cambria" panose="02040503050406030204" pitchFamily="18" charset="0"/>
              <a:ea typeface="Cambria" panose="02040503050406030204" pitchFamily="18" charset="0"/>
            </a:endParaRPr>
          </a:p>
          <a:p>
            <a:pPr marL="285750" lvl="0" indent="-285750">
              <a:spcAft>
                <a:spcPts val="600"/>
              </a:spcAft>
              <a:buFont typeface="Arial" panose="020B0604020202020204" pitchFamily="34" charset="0"/>
              <a:buChar char="•"/>
            </a:pPr>
            <a:r>
              <a:rPr lang="en-US" sz="1600" dirty="0">
                <a:solidFill>
                  <a:srgbClr val="002060"/>
                </a:solidFill>
                <a:latin typeface="Cambria" panose="02040503050406030204" pitchFamily="18" charset="0"/>
                <a:ea typeface="Cambria" panose="02040503050406030204" pitchFamily="18" charset="0"/>
              </a:rPr>
              <a:t>ANN</a:t>
            </a:r>
            <a:endParaRPr lang="en-IN" sz="1600" dirty="0">
              <a:solidFill>
                <a:srgbClr val="002060"/>
              </a:solidFill>
              <a:latin typeface="Cambria" panose="02040503050406030204" pitchFamily="18" charset="0"/>
              <a:ea typeface="Cambria" panose="02040503050406030204" pitchFamily="18" charset="0"/>
            </a:endParaRPr>
          </a:p>
          <a:p>
            <a:pPr lvl="0">
              <a:spcAft>
                <a:spcPts val="600"/>
              </a:spcAft>
            </a:pPr>
            <a:r>
              <a:rPr lang="en-US" sz="1600" dirty="0">
                <a:solidFill>
                  <a:srgbClr val="002060"/>
                </a:solidFill>
                <a:latin typeface="Cambria" panose="02040503050406030204" pitchFamily="18" charset="0"/>
                <a:ea typeface="Cambria" panose="02040503050406030204" pitchFamily="18" charset="0"/>
              </a:rPr>
              <a:t>4. Evaluation Metrics</a:t>
            </a:r>
            <a:endParaRPr lang="en-IN" sz="1600" dirty="0">
              <a:solidFill>
                <a:srgbClr val="002060"/>
              </a:solidFill>
              <a:latin typeface="Cambria" panose="02040503050406030204" pitchFamily="18" charset="0"/>
              <a:ea typeface="Cambria" panose="02040503050406030204" pitchFamily="18" charset="0"/>
            </a:endParaRPr>
          </a:p>
          <a:p>
            <a:pPr>
              <a:spcAft>
                <a:spcPts val="600"/>
              </a:spcAft>
            </a:pPr>
            <a:r>
              <a:rPr lang="en-US" sz="1600" dirty="0">
                <a:solidFill>
                  <a:srgbClr val="002060"/>
                </a:solidFill>
                <a:latin typeface="Cambria" panose="02040503050406030204" pitchFamily="18" charset="0"/>
                <a:ea typeface="Cambria" panose="02040503050406030204" pitchFamily="18" charset="0"/>
              </a:rPr>
              <a:t> </a:t>
            </a:r>
            <a:endParaRPr lang="en-IN" sz="1600" dirty="0">
              <a:solidFill>
                <a:srgbClr val="002060"/>
              </a:solidFill>
              <a:latin typeface="Cambria" panose="02040503050406030204" pitchFamily="18" charset="0"/>
              <a:ea typeface="Cambria" panose="02040503050406030204" pitchFamily="18" charset="0"/>
            </a:endParaRPr>
          </a:p>
          <a:p>
            <a:pPr lvl="0"/>
            <a:r>
              <a:rPr lang="en-US" sz="1600" dirty="0">
                <a:solidFill>
                  <a:srgbClr val="002060"/>
                </a:solidFill>
                <a:latin typeface="Cambria" panose="02040503050406030204" pitchFamily="18" charset="0"/>
                <a:ea typeface="Cambria" panose="02040503050406030204" pitchFamily="18" charset="0"/>
              </a:rPr>
              <a:t>Paper &amp; Publication </a:t>
            </a:r>
            <a:endParaRPr lang="en-IN" sz="1600" dirty="0">
              <a:solidFill>
                <a:srgbClr val="002060"/>
              </a:solidFill>
              <a:latin typeface="Cambria" panose="02040503050406030204" pitchFamily="18" charset="0"/>
              <a:ea typeface="Cambria" panose="02040503050406030204" pitchFamily="18" charset="0"/>
            </a:endParaRPr>
          </a:p>
          <a:p>
            <a:r>
              <a:rPr lang="en-US" sz="1600" dirty="0">
                <a:solidFill>
                  <a:srgbClr val="002060"/>
                </a:solidFill>
                <a:latin typeface="Cambria" panose="02040503050406030204" pitchFamily="18" charset="0"/>
                <a:ea typeface="Cambria" panose="02040503050406030204" pitchFamily="18" charset="0"/>
              </a:rPr>
              <a:t>“A Systematic Review and Meta-Analysis of Data-Mining Techniques for Agricultural Water-Demand Forecasting: Synthesis and Application Framework for Dadra &amp; Nagar Haveli” Selected in 6th International Conferences on Intelligent Vision and Computing (ICIVC 2026) Dehradun (SCOPUS Book Series “Lecture Notes in Networks and Systems”)</a:t>
            </a:r>
            <a:endParaRPr lang="en-US" altLang="en-US" sz="1600" dirty="0">
              <a:solidFill>
                <a:srgbClr val="002060"/>
              </a:solidFill>
              <a:latin typeface="Cambria" panose="02040503050406030204" pitchFamily="18" charset="0"/>
              <a:ea typeface="Cambria" panose="02040503050406030204" pitchFamily="18" charset="0"/>
              <a:sym typeface="Proxima Nova" charset="0"/>
            </a:endParaRPr>
          </a:p>
          <a:p>
            <a:pPr eaLnBrk="1" hangingPunct="1">
              <a:lnSpc>
                <a:spcPct val="150000"/>
              </a:lnSpc>
            </a:pPr>
            <a:endParaRPr lang="en-US" altLang="en-US" sz="16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CDC09FBD-D2A4-F307-4310-6A59C87D609D}"/>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15</a:t>
            </a:fld>
            <a:endParaRPr lang="en-IN" dirty="0">
              <a:latin typeface="Proxima Nova Cn Bl" panose="02000506030000020004" pitchFamily="50" charset="0"/>
            </a:endParaRPr>
          </a:p>
        </p:txBody>
      </p:sp>
    </p:spTree>
    <p:extLst>
      <p:ext uri="{BB962C8B-B14F-4D97-AF65-F5344CB8AC3E}">
        <p14:creationId xmlns:p14="http://schemas.microsoft.com/office/powerpoint/2010/main" val="1880814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D088104-14BA-D197-3C26-68869B6D6576}"/>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5614F9EB-06C3-DFD1-FC86-31512383E004}"/>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Findings From the Research Paper	</a:t>
            </a:r>
            <a:endParaRPr sz="24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6F25F118-B15A-3795-D03C-38506CBE9040}"/>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16</a:t>
            </a:fld>
            <a:endParaRPr lang="en-IN" dirty="0">
              <a:latin typeface="Proxima Nova Cn Bl" panose="02000506030000020004" pitchFamily="50" charset="0"/>
            </a:endParaRPr>
          </a:p>
        </p:txBody>
      </p:sp>
      <p:pic>
        <p:nvPicPr>
          <p:cNvPr id="8" name="Picture 7">
            <a:extLst>
              <a:ext uri="{FF2B5EF4-FFF2-40B4-BE49-F238E27FC236}">
                <a16:creationId xmlns:a16="http://schemas.microsoft.com/office/drawing/2014/main" id="{DAA5409E-EE09-178A-4635-8AC732311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812" y="1134308"/>
            <a:ext cx="8389052" cy="5388331"/>
          </a:xfrm>
          <a:prstGeom prst="rect">
            <a:avLst/>
          </a:prstGeom>
        </p:spPr>
      </p:pic>
    </p:spTree>
    <p:extLst>
      <p:ext uri="{BB962C8B-B14F-4D97-AF65-F5344CB8AC3E}">
        <p14:creationId xmlns:p14="http://schemas.microsoft.com/office/powerpoint/2010/main" val="3453371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EBE52B8-A56A-6A40-6D99-EE4282682FCE}"/>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4F25C7E3-C33B-8172-4BF7-011266D6E21F}"/>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Findings From the Research Paper	</a:t>
            </a:r>
            <a:endParaRPr sz="24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CF19B368-9B7C-0511-259E-76DC3D22F37B}"/>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17</a:t>
            </a:fld>
            <a:endParaRPr lang="en-IN" dirty="0">
              <a:latin typeface="Proxima Nova Cn Bl" panose="02000506030000020004" pitchFamily="50" charset="0"/>
            </a:endParaRPr>
          </a:p>
        </p:txBody>
      </p:sp>
      <p:pic>
        <p:nvPicPr>
          <p:cNvPr id="4" name="Picture 3">
            <a:extLst>
              <a:ext uri="{FF2B5EF4-FFF2-40B4-BE49-F238E27FC236}">
                <a16:creationId xmlns:a16="http://schemas.microsoft.com/office/drawing/2014/main" id="{281FBBBF-4C12-D849-B335-56C8E574C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522" y="1225428"/>
            <a:ext cx="7753503" cy="5219505"/>
          </a:xfrm>
          <a:prstGeom prst="rect">
            <a:avLst/>
          </a:prstGeom>
        </p:spPr>
      </p:pic>
    </p:spTree>
    <p:extLst>
      <p:ext uri="{BB962C8B-B14F-4D97-AF65-F5344CB8AC3E}">
        <p14:creationId xmlns:p14="http://schemas.microsoft.com/office/powerpoint/2010/main" val="683575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C6BAC26-7B8C-0F31-9348-E79AC3BA54F3}"/>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AA43F740-6EC8-18A0-4118-FA4080573A25}"/>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Findings From the Research Paper	</a:t>
            </a:r>
            <a:endParaRPr sz="24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4379E8C8-2C97-942D-0557-9A11E580C275}"/>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18</a:t>
            </a:fld>
            <a:endParaRPr lang="en-IN" dirty="0">
              <a:latin typeface="Proxima Nova Cn Bl" panose="02000506030000020004" pitchFamily="50" charset="0"/>
            </a:endParaRPr>
          </a:p>
        </p:txBody>
      </p:sp>
      <p:pic>
        <p:nvPicPr>
          <p:cNvPr id="6" name="Picture 5">
            <a:extLst>
              <a:ext uri="{FF2B5EF4-FFF2-40B4-BE49-F238E27FC236}">
                <a16:creationId xmlns:a16="http://schemas.microsoft.com/office/drawing/2014/main" id="{B4FDFCF9-2E9F-1445-B63F-E63B80F76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972" y="1078546"/>
            <a:ext cx="8791703" cy="5444093"/>
          </a:xfrm>
          <a:prstGeom prst="rect">
            <a:avLst/>
          </a:prstGeom>
        </p:spPr>
      </p:pic>
    </p:spTree>
    <p:extLst>
      <p:ext uri="{BB962C8B-B14F-4D97-AF65-F5344CB8AC3E}">
        <p14:creationId xmlns:p14="http://schemas.microsoft.com/office/powerpoint/2010/main" val="1989733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CF09F5D-2643-6AEC-BDF7-7CC86368493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1936D2EA-477B-E053-941F-914FB3985E0A}"/>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References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AE2119DD-37E3-077F-C4B8-58C0AC026402}"/>
              </a:ext>
            </a:extLst>
          </p:cNvPr>
          <p:cNvSpPr txBox="1">
            <a:spLocks noChangeArrowheads="1"/>
          </p:cNvSpPr>
          <p:nvPr/>
        </p:nvSpPr>
        <p:spPr bwMode="auto">
          <a:xfrm>
            <a:off x="341812" y="1058834"/>
            <a:ext cx="10640196" cy="5355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1200" dirty="0">
                <a:latin typeface="Cambria" panose="02040503050406030204" pitchFamily="18" charset="0"/>
                <a:ea typeface="Cambria" panose="02040503050406030204" pitchFamily="18" charset="0"/>
              </a:rPr>
              <a:t>[1] Food and Agriculture Organization (FAO), The State of Food and Agriculture 2020: Overcoming Water Challenges in Agriculture. Rome, Italy: FAO, 2020.</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 United Nations Water (UN-Water), The United Nations World Water Development Report 2021:Valuing Water. Paris, France: UNESCO,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 V. Raman, "Significance of losses in water distribution systems in India," Indian Journal of Environmental Health, vol. 25, no. 2, pp. 101-107, 1983.</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 M. Waqas et al., "Applications of machine learning and deep learning in agriculture: A comprehensive review," Computers in Biology and Medicine, vol. 135, p. 104577, 2025.</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 L. </a:t>
            </a:r>
            <a:r>
              <a:rPr lang="en-US" sz="1200" dirty="0" err="1">
                <a:latin typeface="Cambria" panose="02040503050406030204" pitchFamily="18" charset="0"/>
                <a:ea typeface="Cambria" panose="02040503050406030204" pitchFamily="18" charset="0"/>
              </a:rPr>
              <a:t>Umutoni</a:t>
            </a:r>
            <a:r>
              <a:rPr lang="en-US" sz="1200" dirty="0">
                <a:latin typeface="Cambria" panose="02040503050406030204" pitchFamily="18" charset="0"/>
                <a:ea typeface="Cambria" panose="02040503050406030204" pitchFamily="18" charset="0"/>
              </a:rPr>
              <a:t> et al., "Application of machine learning approaches in supporting irrigation scheduling prediction and decision-making: A review," Agricultural Water Management, vol. 294, p. 107010, 2024.</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 M. Nautiyal et al., "Revolutionizing agriculture: A comprehensive review on AI tools and techniques," Frontiers in Artificial Intelligence, vol. 8, p. 122, 2025.</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 M. J. Page et al., "The PRISMA 2020 statement: An updated guideline for reporting systematic reviews," BMJ, vol. 372, p. n71, 2021. DOI: 10.1136/bmj.n71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 M. L. </a:t>
            </a:r>
            <a:r>
              <a:rPr lang="en-US" sz="1200" dirty="0" err="1">
                <a:latin typeface="Cambria" panose="02040503050406030204" pitchFamily="18" charset="0"/>
                <a:ea typeface="Cambria" panose="02040503050406030204" pitchFamily="18" charset="0"/>
              </a:rPr>
              <a:t>Rethlefsen</a:t>
            </a:r>
            <a:r>
              <a:rPr lang="en-US" sz="1200" dirty="0">
                <a:latin typeface="Cambria" panose="02040503050406030204" pitchFamily="18" charset="0"/>
                <a:ea typeface="Cambria" panose="02040503050406030204" pitchFamily="18" charset="0"/>
              </a:rPr>
              <a:t> et al., "PRISMA-S: An extension to the PRISMA statement for reporting literature searches in systematic reviews," Systematic Reviews, vol. 10, no. 1, p. 39, Jan. 2021. DOI:10.1186/s13643-020-01542-z</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[9] D. Kim, S. Choi, S. Kang, and H. Noh, "A study on developing an AI-based water demand prediction and classification model for </a:t>
            </a:r>
            <a:r>
              <a:rPr lang="en-US" sz="1200" dirty="0" err="1">
                <a:latin typeface="Cambria" panose="02040503050406030204" pitchFamily="18" charset="0"/>
                <a:ea typeface="Cambria" panose="02040503050406030204" pitchFamily="18" charset="0"/>
              </a:rPr>
              <a:t>Gurye</a:t>
            </a:r>
            <a:r>
              <a:rPr lang="en-US" sz="1200" dirty="0">
                <a:latin typeface="Cambria" panose="02040503050406030204" pitchFamily="18" charset="0"/>
                <a:ea typeface="Cambria" panose="02040503050406030204" pitchFamily="18" charset="0"/>
              </a:rPr>
              <a:t> intake station," Water, vol. 15, no. 23, 2023. DOI:10.3390/w15234160</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[10] I. S. Msiza, F. V. </a:t>
            </a:r>
            <a:r>
              <a:rPr lang="en-US" sz="1200" dirty="0" err="1">
                <a:latin typeface="Cambria" panose="02040503050406030204" pitchFamily="18" charset="0"/>
                <a:ea typeface="Cambria" panose="02040503050406030204" pitchFamily="18" charset="0"/>
              </a:rPr>
              <a:t>Nelwamondo</a:t>
            </a:r>
            <a:r>
              <a:rPr lang="en-US" sz="1200" dirty="0">
                <a:latin typeface="Cambria" panose="02040503050406030204" pitchFamily="18" charset="0"/>
                <a:ea typeface="Cambria" panose="02040503050406030204" pitchFamily="18" charset="0"/>
              </a:rPr>
              <a:t>, and T. </a:t>
            </a:r>
            <a:r>
              <a:rPr lang="en-US" sz="1200" dirty="0" err="1">
                <a:latin typeface="Cambria" panose="02040503050406030204" pitchFamily="18" charset="0"/>
                <a:ea typeface="Cambria" panose="02040503050406030204" pitchFamily="18" charset="0"/>
              </a:rPr>
              <a:t>Marwala</a:t>
            </a:r>
            <a:r>
              <a:rPr lang="en-US" sz="1200" dirty="0">
                <a:latin typeface="Cambria" panose="02040503050406030204" pitchFamily="18" charset="0"/>
                <a:ea typeface="Cambria" panose="02040503050406030204" pitchFamily="18" charset="0"/>
              </a:rPr>
              <a:t>, "Artificial neural networks and support vector machines for water demand time series forecasting," </a:t>
            </a:r>
            <a:r>
              <a:rPr lang="en-US" sz="1200" dirty="0" err="1">
                <a:latin typeface="Cambria" panose="02040503050406030204" pitchFamily="18" charset="0"/>
                <a:ea typeface="Cambria" panose="02040503050406030204" pitchFamily="18" charset="0"/>
              </a:rPr>
              <a:t>arXiv</a:t>
            </a:r>
            <a:r>
              <a:rPr lang="en-US" sz="1200" dirty="0">
                <a:latin typeface="Cambria" panose="02040503050406030204" pitchFamily="18" charset="0"/>
                <a:ea typeface="Cambria" panose="02040503050406030204" pitchFamily="18" charset="0"/>
              </a:rPr>
              <a:t> preprint arXiv:0705.0969, May 2007.</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[11] C. S. Kim et al., "Water level prediction and forecasting using a long short-term memory (LSTM)model," Water, vol. 16, no. 13, p. 1777, 2024. DOI: 10.3390/w16131777</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[12] V. Atashi et al., "Water level forecasting using deep learning time-series analysis: A case study of Red River of the North," Water, vol. 14, no. 12, p. 1971, 2022. DOI: 10.3390/w14121971</a:t>
            </a:r>
          </a:p>
          <a:p>
            <a:r>
              <a:rPr lang="en-US" sz="1200" dirty="0">
                <a:latin typeface="Cambria" panose="02040503050406030204" pitchFamily="18" charset="0"/>
                <a:ea typeface="Cambria" panose="02040503050406030204" pitchFamily="18" charset="0"/>
              </a:rPr>
              <a:t>[13] Z. Tang et al., "Vine water status mapping with multispectral UAV imagery and machine </a:t>
            </a:r>
            <a:r>
              <a:rPr lang="en-US" sz="1200" dirty="0" err="1">
                <a:latin typeface="Cambria" panose="02040503050406030204" pitchFamily="18" charset="0"/>
                <a:ea typeface="Cambria" panose="02040503050406030204" pitchFamily="18" charset="0"/>
              </a:rPr>
              <a:t>learning,"Irrigation</a:t>
            </a:r>
            <a:r>
              <a:rPr lang="en-US" sz="1200" dirty="0">
                <a:latin typeface="Cambria" panose="02040503050406030204" pitchFamily="18" charset="0"/>
                <a:ea typeface="Cambria" panose="02040503050406030204" pitchFamily="18" charset="0"/>
              </a:rPr>
              <a:t> Science, vol. 40, pp. 715-730, 2022. DOI: 10.1007/s00271-022-00788-w</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[14] "Water losses: NRW impact and reduction initiatives," Indian Infrastructure, May 29, 2023.</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[15] P. Wang, "Water demand prediction model based on random forests," Water Resources Protection,2014.</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[16] J. Li, D. Hassan, S. Brewer, and R. </a:t>
            </a:r>
            <a:r>
              <a:rPr lang="en-US" sz="1200" dirty="0" err="1">
                <a:latin typeface="Cambria" panose="02040503050406030204" pitchFamily="18" charset="0"/>
                <a:ea typeface="Cambria" panose="02040503050406030204" pitchFamily="18" charset="0"/>
              </a:rPr>
              <a:t>Sitzenfrei</a:t>
            </a:r>
            <a:r>
              <a:rPr lang="en-US" sz="1200" dirty="0">
                <a:latin typeface="Cambria" panose="02040503050406030204" pitchFamily="18" charset="0"/>
                <a:ea typeface="Cambria" panose="02040503050406030204" pitchFamily="18" charset="0"/>
              </a:rPr>
              <a:t>, "Is clustering time-series water depth useful? An exploratory study for flooding detection in urban drainage systems," Water, vol. 12, no. 9, p. 2433, Sep.2020. DOI: 10.3390/w12092433</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[17] S. </a:t>
            </a:r>
            <a:r>
              <a:rPr lang="en-US" sz="1200" dirty="0" err="1">
                <a:latin typeface="Cambria" panose="02040503050406030204" pitchFamily="18" charset="0"/>
                <a:ea typeface="Cambria" panose="02040503050406030204" pitchFamily="18" charset="0"/>
              </a:rPr>
              <a:t>Alvisi</a:t>
            </a:r>
            <a:r>
              <a:rPr lang="en-US" sz="1200" dirty="0">
                <a:latin typeface="Cambria" panose="02040503050406030204" pitchFamily="18" charset="0"/>
                <a:ea typeface="Cambria" panose="02040503050406030204" pitchFamily="18" charset="0"/>
              </a:rPr>
              <a:t> and M. Franchini, "Clustering and forecasting model for water distribution systems analysis," in Proc. World Environmental and Water Resources Congress 2020, ASCE, 2020, pp. 761-769.DOI: 10.1061/9780784486184.077</a:t>
            </a:r>
            <a:endParaRPr lang="en-IN" sz="1200" dirty="0">
              <a:latin typeface="Cambria" panose="02040503050406030204" pitchFamily="18" charset="0"/>
              <a:ea typeface="Cambria" panose="02040503050406030204" pitchFamily="18" charset="0"/>
            </a:endParaRPr>
          </a:p>
          <a:p>
            <a:endParaRPr lang="en-IN" sz="12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425A8FB2-5F05-62D7-1226-0491F046BB7D}"/>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19</a:t>
            </a:fld>
            <a:endParaRPr lang="en-IN" dirty="0">
              <a:latin typeface="Proxima Nova Cn Bl" panose="02000506030000020004" pitchFamily="50" charset="0"/>
            </a:endParaRPr>
          </a:p>
        </p:txBody>
      </p:sp>
    </p:spTree>
    <p:extLst>
      <p:ext uri="{BB962C8B-B14F-4D97-AF65-F5344CB8AC3E}">
        <p14:creationId xmlns:p14="http://schemas.microsoft.com/office/powerpoint/2010/main" val="2422097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662E93D-3A47-AD9E-1208-6EC5A18A39BB}"/>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7DB14764-AD17-4B0C-9DC3-F3CD6999ED21}"/>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References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9D31E43B-2B1F-1D52-F9CB-2F64ED40F908}"/>
              </a:ext>
            </a:extLst>
          </p:cNvPr>
          <p:cNvSpPr txBox="1">
            <a:spLocks noChangeArrowheads="1"/>
          </p:cNvSpPr>
          <p:nvPr/>
        </p:nvSpPr>
        <p:spPr bwMode="auto">
          <a:xfrm>
            <a:off x="341812" y="1058834"/>
            <a:ext cx="10640196" cy="6093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1200" dirty="0">
                <a:latin typeface="Cambria" panose="02040503050406030204" pitchFamily="18" charset="0"/>
                <a:ea typeface="Cambria" panose="02040503050406030204" pitchFamily="18" charset="0"/>
              </a:rPr>
              <a:t>[18] J. Shu et al., "Long-term water demand forecasting using AI models in the </a:t>
            </a:r>
            <a:r>
              <a:rPr lang="en-US" sz="1200" dirty="0" err="1">
                <a:latin typeface="Cambria" panose="02040503050406030204" pitchFamily="18" charset="0"/>
                <a:ea typeface="Cambria" panose="02040503050406030204" pitchFamily="18" charset="0"/>
              </a:rPr>
              <a:t>Tuojiang</a:t>
            </a:r>
            <a:r>
              <a:rPr lang="en-US" sz="1200" dirty="0">
                <a:latin typeface="Cambria" panose="02040503050406030204" pitchFamily="18" charset="0"/>
                <a:ea typeface="Cambria" panose="02040503050406030204" pitchFamily="18" charset="0"/>
              </a:rPr>
              <a:t> River </a:t>
            </a:r>
            <a:r>
              <a:rPr lang="en-US" sz="1200" dirty="0" err="1">
                <a:latin typeface="Cambria" panose="02040503050406030204" pitchFamily="18" charset="0"/>
                <a:ea typeface="Cambria" panose="02040503050406030204" pitchFamily="18" charset="0"/>
              </a:rPr>
              <a:t>Basin,China</a:t>
            </a:r>
            <a:r>
              <a:rPr lang="en-US" sz="1200" dirty="0">
                <a:latin typeface="Cambria" panose="02040503050406030204" pitchFamily="18" charset="0"/>
                <a:ea typeface="Cambria" panose="02040503050406030204" pitchFamily="18" charset="0"/>
              </a:rPr>
              <a:t>," PLOS ONE, vol. 19, 2024. DOI: 10.1371/journal.pone.0302558</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[19] D. Sharma and P. Rattan, "Rainfall prediction using Random Forest and </a:t>
            </a:r>
            <a:r>
              <a:rPr lang="en-US" sz="1200" dirty="0" err="1">
                <a:latin typeface="Cambria" panose="02040503050406030204" pitchFamily="18" charset="0"/>
                <a:ea typeface="Cambria" panose="02040503050406030204" pitchFamily="18" charset="0"/>
              </a:rPr>
              <a:t>XGBoost</a:t>
            </a:r>
            <a:r>
              <a:rPr lang="en-US" sz="1200" dirty="0">
                <a:latin typeface="Cambria" panose="02040503050406030204" pitchFamily="18" charset="0"/>
                <a:ea typeface="Cambria" panose="02040503050406030204" pitchFamily="18" charset="0"/>
              </a:rPr>
              <a:t> – A comparative study," in Proc. ICDICI 2024, 2024. DOI: 10.1109/ICDICI62993.2024.10810907</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[20] N. </a:t>
            </a:r>
            <a:r>
              <a:rPr lang="en-US" sz="1200" dirty="0" err="1">
                <a:latin typeface="Cambria" panose="02040503050406030204" pitchFamily="18" charset="0"/>
                <a:ea typeface="Cambria" panose="02040503050406030204" pitchFamily="18" charset="0"/>
              </a:rPr>
              <a:t>Febrina</a:t>
            </a:r>
            <a:r>
              <a:rPr lang="en-US" sz="1200" dirty="0">
                <a:latin typeface="Cambria" panose="02040503050406030204" pitchFamily="18" charset="0"/>
                <a:ea typeface="Cambria" panose="02040503050406030204" pitchFamily="18" charset="0"/>
              </a:rPr>
              <a:t>, E. Nugroho et al., "Enhancing missing data of water level with artificial </a:t>
            </a:r>
            <a:r>
              <a:rPr lang="en-US" sz="1200" dirty="0" err="1">
                <a:latin typeface="Cambria" panose="02040503050406030204" pitchFamily="18" charset="0"/>
                <a:ea typeface="Cambria" panose="02040503050406030204" pitchFamily="18" charset="0"/>
              </a:rPr>
              <a:t>intelligence,"in</a:t>
            </a:r>
            <a:r>
              <a:rPr lang="en-US" sz="1200" dirty="0">
                <a:latin typeface="Cambria" panose="02040503050406030204" pitchFamily="18" charset="0"/>
                <a:ea typeface="Cambria" panose="02040503050406030204" pitchFamily="18" charset="0"/>
              </a:rPr>
              <a:t> Proc. ICADEIS 2025, 2025. DOI: 10.1109/ICADEIS65852.2025.10933384</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[21] R. Mejia, A. Lopez, and A. Rangel, "LSTM-based irrigation water demand forecasting for precision agriculture in arid regions," Computers and Electronics in Agriculture, vol. 211, p. 108123, 2023. DOI:10.1016/j.compag.2023.108123</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[22] M. Zhang, Y. Liu, and H. Wang, "LSTM-based irrigation water demand forecasting for paddy fields in Northern China," Agricultural Water Management, vol. 245, p. 106618, 2021. DOI:10.1016/j.agwat.2021.106618</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[23] S. Kumar, A. Patel, and M. Singh, "Deep learning applications in precision agriculture: A comprehensive review," Computers and Electronics in Agriculture, vol. 195, p. 106842,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[24] H. Chen, L. Wang, and R. Liu, "LSTM networks for multi-step ahead agricultural water demand forecasting under climate variability," Agricultural Water Management, vol. 267, p. 107618,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[25] A. Rodriguez, M. Garcia, and P. Fernandez, "Hybrid LSTM-CNN models for temporal-spatial water demand prediction in irrigation districts," Water Resources Research, vol. 58, no. 8, p.e2021WR031456,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[26] R. Singh, M. Goyal, and A. Thomas, "Comparative analysis of LSTM and ARIMA models for crop water requirement forecasting," Water Resources Management, vol. 34, pp. 2907–2922, 2020. DOI:10.1007/s11269-020-02600-4</a:t>
            </a:r>
          </a:p>
          <a:p>
            <a:r>
              <a:rPr lang="en-US" sz="1200" dirty="0">
                <a:latin typeface="Cambria" panose="02040503050406030204" pitchFamily="18" charset="0"/>
                <a:ea typeface="Cambria" panose="02040503050406030204" pitchFamily="18" charset="0"/>
              </a:rPr>
              <a:t>[27] K. Anderson, J. Smith, and T. Brown, "Explainable AI for agricultural water management: A framework for interpretable machine learning models," Artificial Intelligence in Agriculture, vol. 6, pp.45-58,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[28] D. Hassan, S. Ahmadi, and M. Rezaei, "Multi-step ahead forecasting of agricultural water use under climate variability using LSTM networks," Journal of Hydrology, vol. 598, p. 126424,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[29] L. Thompson, R. Davis, and K. Wilson, "Long short-term memory networks for seasonal irrigation demand prediction in Mediterranean climates," Agricultural Systems, vol. 201, p. 103445,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[30] X. Zhou, Y. Li, and Z. Wang, "Hybrid LSTM-</a:t>
            </a:r>
            <a:r>
              <a:rPr lang="en-US" sz="1200" dirty="0" err="1">
                <a:latin typeface="Cambria" panose="02040503050406030204" pitchFamily="18" charset="0"/>
                <a:ea typeface="Cambria" panose="02040503050406030204" pitchFamily="18" charset="0"/>
              </a:rPr>
              <a:t>XGBoost</a:t>
            </a:r>
            <a:r>
              <a:rPr lang="en-US" sz="1200" dirty="0">
                <a:latin typeface="Cambria" panose="02040503050406030204" pitchFamily="18" charset="0"/>
                <a:ea typeface="Cambria" panose="02040503050406030204" pitchFamily="18" charset="0"/>
              </a:rPr>
              <a:t> models for water demand forecasting in large river basins," Water Resources Management, vol. 36, pp. 2937-2953,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[31] M. Park, S. Kim, and J. Lee, "GPU-accelerated deep learning for real-time agricultural water demand forecasting," Computers and Electronics in Agriculture, vol. 189, p. 106384,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[32] F. Ahmed, N. Khan, and R. Malik, "Computational requirements and optimization strategies for LSTM-based irrigation forecasting systems," Agricultural Water Management, vol. 255, p. 107015,2021.</a:t>
            </a:r>
            <a:endParaRPr lang="en-IN" sz="1200" dirty="0">
              <a:latin typeface="Cambria" panose="02040503050406030204" pitchFamily="18" charset="0"/>
              <a:ea typeface="Cambria" panose="02040503050406030204" pitchFamily="18" charset="0"/>
            </a:endParaRPr>
          </a:p>
          <a:p>
            <a:endParaRPr lang="en-IN"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F1AB927B-D2D8-DA18-1DC2-956D810FA104}"/>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20</a:t>
            </a:fld>
            <a:endParaRPr lang="en-IN" dirty="0">
              <a:latin typeface="Proxima Nova Cn Bl" panose="02000506030000020004" pitchFamily="50" charset="0"/>
            </a:endParaRPr>
          </a:p>
        </p:txBody>
      </p:sp>
    </p:spTree>
    <p:extLst>
      <p:ext uri="{BB962C8B-B14F-4D97-AF65-F5344CB8AC3E}">
        <p14:creationId xmlns:p14="http://schemas.microsoft.com/office/powerpoint/2010/main" val="3779465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987E362-2F42-F205-54E4-D538E0140581}"/>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CAC0AF92-5627-534F-B5C2-DC049A6FFA2E}"/>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References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8137EDEE-E742-6A90-C549-F89A30CC4893}"/>
              </a:ext>
            </a:extLst>
          </p:cNvPr>
          <p:cNvSpPr txBox="1">
            <a:spLocks noChangeArrowheads="1"/>
          </p:cNvSpPr>
          <p:nvPr/>
        </p:nvSpPr>
        <p:spPr bwMode="auto">
          <a:xfrm>
            <a:off x="341812" y="1058834"/>
            <a:ext cx="10640196" cy="6170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1200" dirty="0">
                <a:latin typeface="Cambria" panose="02040503050406030204" pitchFamily="18" charset="0"/>
                <a:ea typeface="Cambria" panose="02040503050406030204" pitchFamily="18" charset="0"/>
              </a:rPr>
              <a:t>[33] B. Johnson, A. Miller, and C. Taylor, "Hyperparameter optimization for deep learning models in agricultural water forecasting," Machine Learning Applications, vol. 8, p. 100298,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[34] G. Roberts, D. Clark, and S. Evans, "Interpretability challenges in deep learning approaches for agricultural decision support systems," AI in Agriculture, vol. 5, pp. 78-89,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[35] Y. Nakamura, H. Tanaka, and K. Sato, "Ensemble methods for robust agricultural water demand prediction in data-scarce environments," Water Resources Research, vol. 57, no. 12, p. e2021WR030234,2021.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[36] P. Oliveira, M. Santos, and A. Costa, "Gradient boosting algorithms for irrigation water demand forecasting in Portuguese agricultural regions," Agricultural Water Management, vol. 248, p. 106759,2021.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[37] R. Gupta, S. Sharma, and V. Kumar, "</a:t>
            </a:r>
            <a:r>
              <a:rPr lang="en-US" sz="1200" dirty="0" err="1">
                <a:latin typeface="Cambria" panose="02040503050406030204" pitchFamily="18" charset="0"/>
                <a:ea typeface="Cambria" panose="02040503050406030204" pitchFamily="18" charset="0"/>
              </a:rPr>
              <a:t>XGBoost</a:t>
            </a:r>
            <a:r>
              <a:rPr lang="en-US" sz="1200" dirty="0">
                <a:latin typeface="Cambria" panose="02040503050406030204" pitchFamily="18" charset="0"/>
                <a:ea typeface="Cambria" panose="02040503050406030204" pitchFamily="18" charset="0"/>
              </a:rPr>
              <a:t>-based ensemble learning for agricultural water demand prediction in monsoon-dependent regions," Journal of Hydrology, vol. 603, p. 127108,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[38] L. Martinez, J. Rodriguez, and C. Gonzalez, "Feature engineering strategies for machine learning in agricultural water forecasting," Computers and Electronics in Agriculture, vol. 185, p. 106134,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[39] D. Chang, W. Liu, and H. Zhang, "Time series decomposition and ensemble modeling for seasonal agricultural water demand prediction," Agricultural Systems, vol. 195, p. 103289,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[40] T. Anderson, M. Peterson, and R. Johnson, "Comparative evaluation of ensemble methods for agricultural water demand forecasting under uncertainty," Water Resources Management, vol. 35, pp.4187-4203,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[41] D. Patel, V. Sharma, and R. Joshi, "K-Means clustering for agricultural water demand zoning in semi-arid Gujarat, India," Agricultural Water Management, vol. 280, p. 108320, 2023. DOI:10.1016/j.agwat.2023.108320</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[42] A. Mendes, R. Silva, and J. Ferreira, "Unsupervised learning for irrigation pattern recognition using hierarchical clustering," Computers and Electronics in Agriculture, vol. 198, p. 107077, 2022. DOI:10.1016/j.compag.2022.107077</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[43] P. Gupta, S. Yadav, and D. Singh, "Village-level demand zone identification using K-Means and PCA for efficient irrigation management," Water Resources Management, vol. 35, pp. 4521–4535, 2021.DOI: 10.1007/s11269-021-02955-3</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[44] E. Ramirez, F. Lopez, and G. Morales, "Principal component analysis for dimensionality reduction in agricultural water demand modeling," Agricultural Water Management, vol. 252, p. 106891,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[45] K. O'Brien, L. Murphy, and P. Walsh, "Gaussian mixture models for agricultural water consumption pattern identification," Water Resources Research, vol. 58, no. 3, p. e2021WR030567,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[46] S. Patel, R. Mehta, and A. Shah, "Density-based clustering algorithms for irrigation demand zone mapping in arid regions," Journal of Arid Environments, vol. 195, p. 104623,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[47] K. Ravindra, M. Gupta, and S. Singh, "Data-driven irrigation optimization in limited-resource farming systems of Haryana, India," Agricultural Water Management, vol. 243, p. 106456, 2021.</a:t>
            </a:r>
            <a:endParaRPr lang="en-IN"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3E07FFF2-B5C3-4A6F-2CB4-681406CABB2C}"/>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21</a:t>
            </a:fld>
            <a:endParaRPr lang="en-IN" dirty="0">
              <a:latin typeface="Proxima Nova Cn Bl" panose="02000506030000020004" pitchFamily="50" charset="0"/>
            </a:endParaRPr>
          </a:p>
        </p:txBody>
      </p:sp>
    </p:spTree>
    <p:extLst>
      <p:ext uri="{BB962C8B-B14F-4D97-AF65-F5344CB8AC3E}">
        <p14:creationId xmlns:p14="http://schemas.microsoft.com/office/powerpoint/2010/main" val="3001331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E08A2B-6E6E-AC93-BD4D-8FE4593221EF}"/>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4661C01A-6EF2-F853-D4A6-4B4F1F5B568F}"/>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References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D4FEC14F-5D1C-8FF2-1B67-0AED2FBFEFF7}"/>
              </a:ext>
            </a:extLst>
          </p:cNvPr>
          <p:cNvSpPr txBox="1">
            <a:spLocks noChangeArrowheads="1"/>
          </p:cNvSpPr>
          <p:nvPr/>
        </p:nvSpPr>
        <p:spPr bwMode="auto">
          <a:xfrm>
            <a:off x="341812" y="1058834"/>
            <a:ext cx="10640196" cy="598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1200" dirty="0">
                <a:latin typeface="Cambria" panose="02040503050406030204" pitchFamily="18" charset="0"/>
                <a:ea typeface="Cambria" panose="02040503050406030204" pitchFamily="18" charset="0"/>
              </a:rPr>
              <a:t>[48] T. Alemayehu, A. Kebede, and M. Haile, "Water demand forecasting challenges in smallholder irrigation schemes of Ethiopia," Irrigation and Drainage, vol. 70, pp. 754-766,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[49] J. Ochieng, P. Karanja, and S. Mwangi, "Machine learning applications in smallholder irrigation systems of Kenya: Opportunities and constraints," Agricultural Systems, vol. 196, p. 103321,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[50] R. Nkomo, T. Sithole, and M. Dube, "Challenges and opportunities for AI-based water management in Southern African agriculture," Water SA, vol. 47, pp. 483-492,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[51] W. Li, X. Chen, and Y. Wang, "Climate-aware machine learning models for irrigation forecasting under changing rainfall patterns," Climate Dynamics, vol. 58, pp. 2847-2863,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[52] A. Bhattacharya, R. Kumar, and S. Das, "Integration of climate variables in machine learning models for agricultural water demand forecasting in India," Agricultural and Forest Meteorology, vol.315, p. 108820,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[53] M. Torres, L. Silva, and P. Costa, "CMIP6 climate projections integration in agricultural water demand models for adaptation planning," Climatic Change, vol. 165, no. 3, p. 47,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[54] H. Yamamoto, K. Ishii, and T. Suzuki, "Climate-informed machine learning for agricultural water management under non-stationary conditions," Water Resources Research, vol. 57, no. 8, p.e2020WR028789,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[55] C. Anderson, B. Thompson, and R. Wilson, "Adaptive learning algorithms for dynamic agricultural water demand prediction," Computers and Electronics in Agriculture, vol. 191, p. 106512,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[56] N. Petrov, S. Ivanov, and A. Volkov, "Climate variability impact on irrigation water requirements: A machine learning approach," Agricultural Water Management, vol. 258, p. 107189,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[57] F. Rossi, G. Bianchi, and M. Ferrari, "Seasonal adaptation mechanisms in machine learning models for agricultural water forecasting," Agricultural Systems, vol. 203, p. 103515,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[58] J. Kim, H. Park, and S. Lee, "Integration of ENSO indices in deep learning models for long-term agricultural water demand prediction," Journal of Hydrology, vol. 612, p. 128265,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[59] A. Gonzalez, M. Rodriguez, and C. Lopez, "Machine learning ensemble methods for climate-aware agricultural planning," Environmental Modelling &amp; Software, vol. 147, p. 105241,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[60] D. Mitchell, K. Brown, and L. Davis, "Adaptive neural networks for agricultural water management under climate change scenarios," Agricultural Water Management, vol. 261, p. 107358,2022.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[61] P. Zhang, Q. Liu, and R. Wang, "IoT sensor networks for real-time agricultural water monitoring and forecasting," Sensors, vol. 21, no. 15, p. 5108,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[62] M. Ali, S. Hassan, and A. Ahmed, "Edge computing applications in precision irrigation </a:t>
            </a:r>
            <a:r>
              <a:rPr lang="en-US" sz="1200" dirty="0" err="1">
                <a:latin typeface="Cambria" panose="02040503050406030204" pitchFamily="18" charset="0"/>
                <a:ea typeface="Cambria" panose="02040503050406030204" pitchFamily="18" charset="0"/>
              </a:rPr>
              <a:t>systems,"Computers</a:t>
            </a:r>
            <a:r>
              <a:rPr lang="en-US" sz="1200" dirty="0">
                <a:latin typeface="Cambria" panose="02040503050406030204" pitchFamily="18" charset="0"/>
                <a:ea typeface="Cambria" panose="02040503050406030204" pitchFamily="18" charset="0"/>
              </a:rPr>
              <a:t> and Electronics in Agriculture, vol. 188, p. 106312, 2021.</a:t>
            </a:r>
            <a:endParaRPr lang="en-IN"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00C367E9-063B-FC60-4F50-4BCB572E7E5E}"/>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22</a:t>
            </a:fld>
            <a:endParaRPr lang="en-IN" dirty="0">
              <a:latin typeface="Proxima Nova Cn Bl" panose="02000506030000020004" pitchFamily="50" charset="0"/>
            </a:endParaRPr>
          </a:p>
        </p:txBody>
      </p:sp>
    </p:spTree>
    <p:extLst>
      <p:ext uri="{BB962C8B-B14F-4D97-AF65-F5344CB8AC3E}">
        <p14:creationId xmlns:p14="http://schemas.microsoft.com/office/powerpoint/2010/main" val="3594522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E899F3B-BA5E-9435-F6D5-6C66D14863DD}"/>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F7B7ADE7-7FDC-5646-A19D-FE087FACB544}"/>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References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E01082CA-AD8E-1283-25E4-0338AA0F948A}"/>
              </a:ext>
            </a:extLst>
          </p:cNvPr>
          <p:cNvSpPr txBox="1">
            <a:spLocks noChangeArrowheads="1"/>
          </p:cNvSpPr>
          <p:nvPr/>
        </p:nvSpPr>
        <p:spPr bwMode="auto">
          <a:xfrm>
            <a:off x="341812" y="1058834"/>
            <a:ext cx="10640196" cy="6170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1200" dirty="0">
                <a:latin typeface="Cambria" panose="02040503050406030204" pitchFamily="18" charset="0"/>
                <a:ea typeface="Cambria" panose="02040503050406030204" pitchFamily="18" charset="0"/>
              </a:rPr>
              <a:t>[63] L. Chen, W. Yang, and H. Li, "Wireless sensor network optimization for agricultural water demand monitoring," Agricultural Water Management, vol. 246, p. 106682,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[64] R. Kumar, P. Sharma, and V. Singh, "Blockchain-based data integrity for agricultural water management systems," Computers and Electronics in Agriculture, vol. 193, p. 106652,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[65] E. Johnson, T. Anderson, and M. Clark, "Cloud-based platforms for scalable agricultural water forecasting," Agricultural Systems, vol. 198, p. 103376,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[66] S. Williams, J. Taylor, and K. Moore, "Cybersecurity considerations in smart irrigation </a:t>
            </a:r>
            <a:r>
              <a:rPr lang="en-US" sz="1200" dirty="0" err="1">
                <a:latin typeface="Cambria" panose="02040503050406030204" pitchFamily="18" charset="0"/>
                <a:ea typeface="Cambria" panose="02040503050406030204" pitchFamily="18" charset="0"/>
              </a:rPr>
              <a:t>systems,"Agricultural</a:t>
            </a:r>
            <a:r>
              <a:rPr lang="en-US" sz="1200" dirty="0">
                <a:latin typeface="Cambria" panose="02040503050406030204" pitchFamily="18" charset="0"/>
                <a:ea typeface="Cambria" panose="02040503050406030204" pitchFamily="18" charset="0"/>
              </a:rPr>
              <a:t> Water Management, vol. 254, p. 106954,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[67] A. Rosenberg, D. Cohen, and B. Levy, "Cost-benefit analysis of precision irrigation technologies in Mediterranean agriculture," Agricultural Water Management, vol. 249, p. 106803,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[68] G. Santos, R. Oliveira, and M. Costa, "Economic evaluation of machine learning implementations in Brazilian irrigation districts," Water Economics and Policy, vol. 7, no. 3, p. 2150018,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[69] K. Singh, R. Gupta, and S. Patel, "Financial sustainability of AI-based water management systems in Indian agriculture," Agricultural Economics, vol. 52, pp. 743-757,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[70] T. Murphy, L. O'Sullivan, and P. Kelly, "Return on investment analysis for smart irrigation technologies in European agriculture," Precision Agriculture, vol. 23, pp. 1456-1474,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[71] A. Jain and L. Ormsbee, "Short-term water demand forecast modeling techniques—Conventional methods versus AI," Journal—American Water Works Association, 2002. DOI: 10.1002/j.1551-8833.2002.tb09507.x</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[72] B. Mitchell, C. Roberts, and D. Green, "Long-term evaluation of machine learning models for agricultural water forecasting," Water Resources Research, vol. 58, no. 6, p. e2021WR031234,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[73] W. Krajewski, G. Ghimire, I. Demir, and R. Mantilla, "Real-time streamflow forecasting: AI </a:t>
            </a:r>
            <a:r>
              <a:rPr lang="en-US" sz="1200" dirty="0" err="1">
                <a:latin typeface="Cambria" panose="02040503050406030204" pitchFamily="18" charset="0"/>
                <a:ea typeface="Cambria" panose="02040503050406030204" pitchFamily="18" charset="0"/>
              </a:rPr>
              <a:t>vs.hydrologic</a:t>
            </a:r>
            <a:r>
              <a:rPr lang="en-US" sz="1200" dirty="0">
                <a:latin typeface="Cambria" panose="02040503050406030204" pitchFamily="18" charset="0"/>
                <a:ea typeface="Cambria" panose="02040503050406030204" pitchFamily="18" charset="0"/>
              </a:rPr>
              <a:t> insights," Journal of Hydrology X, 2021. DOI: 10.1016/j.hydroa.2021.100110</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[74] F. Ahmed, N. Hassan, and M. Khan, "Data quality assessment frameworks for agricultural water management systems," Agricultural Water Management, vol. 257, p. 107123,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[75] J. Rodriguez, A. Martinez, and C. Gonzalez, "Missing data imputation techniques for agricultural time series forecasting," Computers and Electronics in Agriculture, vol. 194, p. 106741,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[76] S. Thompson, R. Davis, and K. Anderson, "Sensor calibration and maintenance protocols for precision irrigation systems," Agricultural Systems, vol. 199, p. 103401,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[77] M. Lee, H. Kim, and J. Park, "Quality control procedures for automated agricultural water monitoring networks," Environmental Monitoring and Assessment, vol. 194, no. 5, p. 325,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[78] P. Wilson, L. Brown, and T. Clark, "Standardization of data collection protocols in agricultural water research," Agricultural Water Management, vol. 260, p. 107289, 2022.</a:t>
            </a:r>
            <a:endParaRPr lang="en-IN"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2682287D-EF8A-F8C7-4F6D-2EEDACDCBA35}"/>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23</a:t>
            </a:fld>
            <a:endParaRPr lang="en-IN" dirty="0">
              <a:latin typeface="Proxima Nova Cn Bl" panose="02000506030000020004" pitchFamily="50" charset="0"/>
            </a:endParaRPr>
          </a:p>
        </p:txBody>
      </p:sp>
    </p:spTree>
    <p:extLst>
      <p:ext uri="{BB962C8B-B14F-4D97-AF65-F5344CB8AC3E}">
        <p14:creationId xmlns:p14="http://schemas.microsoft.com/office/powerpoint/2010/main" val="1584101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C2F1F27-EF96-BD4C-BE12-EAEB19FAAFC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9BAD6016-0353-521F-62EC-F1BDAA507846}"/>
              </a:ext>
            </a:extLst>
          </p:cNvPr>
          <p:cNvSpPr txBox="1">
            <a:spLocks noGrp="1"/>
          </p:cNvSpPr>
          <p:nvPr>
            <p:ph type="title"/>
          </p:nvPr>
        </p:nvSpPr>
        <p:spPr>
          <a:xfrm>
            <a:off x="341812" y="335361"/>
            <a:ext cx="8389053"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ambria" panose="02040503050406030204" pitchFamily="18" charset="0"/>
                <a:ea typeface="Cambria" panose="02040503050406030204" pitchFamily="18" charset="0"/>
              </a:rPr>
              <a:t>References	</a:t>
            </a:r>
            <a:endParaRPr sz="2400" dirty="0">
              <a:latin typeface="Cambria" panose="02040503050406030204" pitchFamily="18" charset="0"/>
              <a:ea typeface="Cambria" panose="02040503050406030204" pitchFamily="18" charset="0"/>
            </a:endParaRPr>
          </a:p>
        </p:txBody>
      </p:sp>
      <p:sp>
        <p:nvSpPr>
          <p:cNvPr id="7" name="Google Shape;71;p15">
            <a:extLst>
              <a:ext uri="{FF2B5EF4-FFF2-40B4-BE49-F238E27FC236}">
                <a16:creationId xmlns:a16="http://schemas.microsoft.com/office/drawing/2014/main" id="{396648B2-D862-BD8E-6DCD-7943CC6D4B91}"/>
              </a:ext>
            </a:extLst>
          </p:cNvPr>
          <p:cNvSpPr txBox="1">
            <a:spLocks noChangeArrowheads="1"/>
          </p:cNvSpPr>
          <p:nvPr/>
        </p:nvSpPr>
        <p:spPr bwMode="auto">
          <a:xfrm>
            <a:off x="341812" y="1058834"/>
            <a:ext cx="10640196" cy="524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1200" dirty="0">
                <a:latin typeface="Cambria" panose="02040503050406030204" pitchFamily="18" charset="0"/>
                <a:ea typeface="Cambria" panose="02040503050406030204" pitchFamily="18" charset="0"/>
              </a:rPr>
              <a:t>[79] A. Garcia, M. Lopez, and R. Morales, "Decision tree applications in irrigation scheduling optimization," Agricultural Water Management, vol. 245, p. 106623,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[80] K. Patel, S. Shah, and R. Mehta, "Random forest feature selection for agricultural water demand modeling," Water Resources Management, vol. 36, pp. 1847-1863,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[81] D. Chang, W. Liu, and H. Zhang, "Gradient boosting decision trees for precision irrigation management," Computers and Electronics in Agriculture, vol. 187, p. 106234,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[82] L. Anderson, M. Johnson, and P. Taylor, "Interpretable machine learning models for agricultural decision support," AI in Agriculture, vol. 4, pp. 123-136,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[83] R. Kumar, S. Singh, and V. Gupta, "Ensemble decision tree methods for agricultural water allocation optimization," Agricultural Systems, vol. 194, p. 103287,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[84] A. </a:t>
            </a:r>
            <a:r>
              <a:rPr lang="en-US" sz="1200" dirty="0" err="1">
                <a:latin typeface="Cambria" panose="02040503050406030204" pitchFamily="18" charset="0"/>
                <a:ea typeface="Cambria" panose="02040503050406030204" pitchFamily="18" charset="0"/>
              </a:rPr>
              <a:t>Mosavi</a:t>
            </a:r>
            <a:r>
              <a:rPr lang="en-US" sz="1200" dirty="0">
                <a:latin typeface="Cambria" panose="02040503050406030204" pitchFamily="18" charset="0"/>
                <a:ea typeface="Cambria" panose="02040503050406030204" pitchFamily="18" charset="0"/>
              </a:rPr>
              <a:t>, P. Ozturk, and K.-W. Chau, "Flood prediction using machine learning models: A systematic review," Water, 2018. DOI: 10.3390/w10111536</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[85] J. Smith, K. Brown, and L. Davis, "Meta-learning approaches for rapid adaptation in agricultural forecasting systems," Machine Learning, vol. 110, pp. 2847-2869,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[86] M. Rodriguez, A. Garcia, and P. Lopez, "Transfer learning applications in agricultural water demand prediction across regions," Computers and Electronics in Agriculture, vol. 192, p. 106598,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[87] S. Chen, L. Wang, and H. Li, "Domain adaptation techniques for agricultural time series forecasting," Agricultural Systems, vol. 202, p. 103478,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[88] M. Mutlu and A.Y. Sönmez, "Meta-analysis of AI techniques for water demand and flow forecasting," Water Science &amp; Technology, 2022. DOI: 10.2166/wst.2022.179</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[89] F. Thompson, R. Wilson, and K. Anderson, "Automated hyperparameter tuning for agricultural forecasting models," Agricultural Water Management, vol. 253, p. 106935,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[90] G. Patel, S. Kumar, and R. Singh, "Multi-objective optimization in agricultural water allocation using evolutionary algorithms," Water Resources Management, vol. 35, pp. 4321-4337, 2021.</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[91] A. Johnson, M. Clark, and P. Davis, "Robust optimization approaches for agricultural water management under uncertainty," Agricultural Systems, vol. 197, p. 103345, 2022.</a:t>
            </a:r>
            <a:endParaRPr lang="en-IN" sz="120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[92] R. Gupta and S. Jain, "A meta-analysis of AI and statistical forecasting approaches for water demand prediction," Hydrological Processes, 2023. DOI: 10.1002/hyp.14837</a:t>
            </a:r>
            <a:endParaRPr lang="en-IN"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a:p>
            <a:pPr>
              <a:spcAft>
                <a:spcPts val="600"/>
              </a:spcAft>
            </a:pPr>
            <a:endParaRPr lang="en-US" altLang="en-US" sz="1200" dirty="0">
              <a:latin typeface="Cambria" panose="02040503050406030204" pitchFamily="18" charset="0"/>
              <a:ea typeface="Cambria" panose="02040503050406030204" pitchFamily="18" charset="0"/>
            </a:endParaRPr>
          </a:p>
        </p:txBody>
      </p:sp>
      <p:sp>
        <p:nvSpPr>
          <p:cNvPr id="3" name="Slide Number Placeholder 2">
            <a:extLst>
              <a:ext uri="{FF2B5EF4-FFF2-40B4-BE49-F238E27FC236}">
                <a16:creationId xmlns:a16="http://schemas.microsoft.com/office/drawing/2014/main" id="{97B0C765-CEA9-13FC-2489-34FA386AF1C9}"/>
              </a:ext>
            </a:extLst>
          </p:cNvPr>
          <p:cNvSpPr>
            <a:spLocks noGrp="1"/>
          </p:cNvSpPr>
          <p:nvPr>
            <p:ph type="sldNum" sz="quarter" idx="12"/>
          </p:nvPr>
        </p:nvSpPr>
        <p:spPr>
          <a:xfrm>
            <a:off x="11503599" y="6444933"/>
            <a:ext cx="346589" cy="365125"/>
          </a:xfrm>
        </p:spPr>
        <p:txBody>
          <a:bodyPr/>
          <a:lstStyle/>
          <a:p>
            <a:fld id="{61B8729A-A80B-48B4-A1F8-161E6CCF1013}" type="slidenum">
              <a:rPr lang="en-IN" smtClean="0">
                <a:latin typeface="Proxima Nova Cn Bl" panose="02000506030000020004" pitchFamily="50" charset="0"/>
              </a:rPr>
              <a:pPr/>
              <a:t>24</a:t>
            </a:fld>
            <a:endParaRPr lang="en-IN" dirty="0">
              <a:latin typeface="Proxima Nova Cn Bl" panose="02000506030000020004" pitchFamily="50" charset="0"/>
            </a:endParaRPr>
          </a:p>
        </p:txBody>
      </p:sp>
    </p:spTree>
    <p:extLst>
      <p:ext uri="{BB962C8B-B14F-4D97-AF65-F5344CB8AC3E}">
        <p14:creationId xmlns:p14="http://schemas.microsoft.com/office/powerpoint/2010/main" val="3720858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2"/>
          <p:cNvSpPr>
            <a:spLocks noGrp="1"/>
          </p:cNvSpPr>
          <p:nvPr>
            <p:ph type="sldNum" sz="quarter" idx="12"/>
          </p:nvPr>
        </p:nvSpPr>
        <p:spPr>
          <a:xfrm>
            <a:off x="11503599" y="6444933"/>
            <a:ext cx="346589" cy="365125"/>
          </a:xfrm>
        </p:spPr>
        <p:txBody>
          <a:bodyPr/>
          <a:lstStyle/>
          <a:p>
            <a:r>
              <a:rPr lang="en-IN" dirty="0">
                <a:latin typeface="Proxima Nova Cn Bl" panose="02000506030000020004" pitchFamily="50" charset="0"/>
              </a:rPr>
              <a:t>3</a:t>
            </a:r>
          </a:p>
        </p:txBody>
      </p:sp>
    </p:spTree>
    <p:extLst>
      <p:ext uri="{BB962C8B-B14F-4D97-AF65-F5344CB8AC3E}">
        <p14:creationId xmlns:p14="http://schemas.microsoft.com/office/powerpoint/2010/main" val="11457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5853</Words>
  <Application>Microsoft Office PowerPoint</Application>
  <PresentationFormat>Widescreen</PresentationFormat>
  <Paragraphs>435</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Cambria</vt:lpstr>
      <vt:lpstr>Proxima Nova Cn Bl</vt:lpstr>
      <vt:lpstr>Office Theme</vt:lpstr>
      <vt:lpstr>PowerPoint Presentation</vt:lpstr>
      <vt:lpstr>Table of Contents</vt:lpstr>
      <vt:lpstr>Why this research?</vt:lpstr>
      <vt:lpstr>Why This Research? </vt:lpstr>
      <vt:lpstr>Why This Research?</vt:lpstr>
      <vt:lpstr>Why This Research? </vt:lpstr>
      <vt:lpstr>Literature Review  </vt:lpstr>
      <vt:lpstr>Literature Review  </vt:lpstr>
      <vt:lpstr>Literature Review  </vt:lpstr>
      <vt:lpstr>Literature Review  </vt:lpstr>
      <vt:lpstr>Research Gap</vt:lpstr>
      <vt:lpstr>Research Gap</vt:lpstr>
      <vt:lpstr>Problem Statement </vt:lpstr>
      <vt:lpstr>Objectives </vt:lpstr>
      <vt:lpstr>Future Planning for DAC - 2 </vt:lpstr>
      <vt:lpstr>Findings From the Research Paper </vt:lpstr>
      <vt:lpstr>Findings From the Research Paper </vt:lpstr>
      <vt:lpstr>Findings From the Research Paper </vt:lpstr>
      <vt:lpstr>References </vt:lpstr>
      <vt:lpstr>References </vt:lpstr>
      <vt:lpstr>References </vt:lpstr>
      <vt:lpstr>References </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Decide Gamer</cp:lastModifiedBy>
  <cp:revision>41</cp:revision>
  <dcterms:created xsi:type="dcterms:W3CDTF">2023-12-05T07:58:57Z</dcterms:created>
  <dcterms:modified xsi:type="dcterms:W3CDTF">2026-05-19T18:21:00Z</dcterms:modified>
</cp:coreProperties>
</file>